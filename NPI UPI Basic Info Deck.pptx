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147481447" r:id="rId3"/>
    <p:sldId id="2147481448" r:id="rId4"/>
    <p:sldId id="258" r:id="rId5"/>
    <p:sldId id="265" r:id="rId6"/>
    <p:sldId id="259" r:id="rId7"/>
    <p:sldId id="262" r:id="rId8"/>
    <p:sldId id="260" r:id="rId9"/>
    <p:sldId id="263" r:id="rId10"/>
    <p:sldId id="261" r:id="rId11"/>
    <p:sldId id="2147481449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anjul" userId="4cb9be02-941f-4aa5-9da3-4389772646a0" providerId="ADAL" clId="{8CC573AD-30F5-40CA-BA20-7202C5CE2F38}"/>
    <pc:docChg chg="undo custSel addSld delSld modSld">
      <pc:chgData name="Gupta, Sanjul" userId="4cb9be02-941f-4aa5-9da3-4389772646a0" providerId="ADAL" clId="{8CC573AD-30F5-40CA-BA20-7202C5CE2F38}" dt="2026-08-26T11:11:02.650" v="25" actId="47"/>
      <pc:docMkLst>
        <pc:docMk/>
      </pc:docMkLst>
      <pc:sldChg chg="del">
        <pc:chgData name="Gupta, Sanjul" userId="4cb9be02-941f-4aa5-9da3-4389772646a0" providerId="ADAL" clId="{8CC573AD-30F5-40CA-BA20-7202C5CE2F38}" dt="2026-08-26T11:11:02.650" v="25" actId="47"/>
        <pc:sldMkLst>
          <pc:docMk/>
          <pc:sldMk cId="2176458244" sldId="26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3EA851-A8B9-4CA2-9A5D-7E539047E64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3B222C-1921-47D3-B48E-D9C8FF2C6E9D}">
      <dgm:prSet phldr="0" custT="1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 </a:t>
          </a:r>
          <a:r>
            <a:rPr lang="en-US" sz="1800" dirty="0">
              <a:latin typeface="Aptos Display" panose="02110004020202020204"/>
            </a:rPr>
            <a:t>Norms for SKUs with higher salience need to be higher</a:t>
          </a:r>
          <a:endParaRPr lang="en-US" sz="1800" dirty="0"/>
        </a:p>
      </dgm:t>
    </dgm:pt>
    <dgm:pt modelId="{69AF9E01-8C96-4C57-B0CE-2AC21D3C526C}" type="parTrans" cxnId="{6DC1DBB7-EAEC-464E-BE7E-BC99C9F7B153}">
      <dgm:prSet/>
      <dgm:spPr/>
      <dgm:t>
        <a:bodyPr/>
        <a:lstStyle/>
        <a:p>
          <a:endParaRPr lang="en-US"/>
        </a:p>
      </dgm:t>
    </dgm:pt>
    <dgm:pt modelId="{0BCD6931-C4E7-40D9-A495-7EC7AD5DF487}" type="sibTrans" cxnId="{6DC1DBB7-EAEC-464E-BE7E-BC99C9F7B153}">
      <dgm:prSet/>
      <dgm:spPr/>
      <dgm:t>
        <a:bodyPr/>
        <a:lstStyle/>
        <a:p>
          <a:endParaRPr lang="en-US"/>
        </a:p>
      </dgm:t>
    </dgm:pt>
    <dgm:pt modelId="{4E59808E-30BE-4F12-A978-9E68C1A66B0E}">
      <dgm:prSet custT="1"/>
      <dgm:spPr/>
      <dgm:t>
        <a:bodyPr/>
        <a:lstStyle/>
        <a:p>
          <a:pPr rtl="0"/>
          <a:r>
            <a:rPr lang="en-US" sz="2400" b="1" dirty="0">
              <a:latin typeface="Calibri"/>
              <a:ea typeface="Calibri"/>
              <a:cs typeface="Calibri"/>
            </a:rPr>
            <a:t>Standard deviation in Lead time from source DC</a:t>
          </a:r>
          <a:endParaRPr lang="en-US" sz="2400" dirty="0"/>
        </a:p>
      </dgm:t>
    </dgm:pt>
    <dgm:pt modelId="{78662C5A-F349-41E1-8107-C98E1CB38B08}" type="parTrans" cxnId="{E6A87BF9-64C5-4F4C-930D-3FAED61A48AE}">
      <dgm:prSet/>
      <dgm:spPr/>
      <dgm:t>
        <a:bodyPr/>
        <a:lstStyle/>
        <a:p>
          <a:endParaRPr lang="en-US"/>
        </a:p>
      </dgm:t>
    </dgm:pt>
    <dgm:pt modelId="{E57460CC-E638-4203-BC6D-30A196C9DA14}" type="sibTrans" cxnId="{E6A87BF9-64C5-4F4C-930D-3FAED61A48AE}">
      <dgm:prSet/>
      <dgm:spPr/>
      <dgm:t>
        <a:bodyPr/>
        <a:lstStyle/>
        <a:p>
          <a:endParaRPr lang="en-US"/>
        </a:p>
      </dgm:t>
    </dgm:pt>
    <dgm:pt modelId="{AD424266-502D-427F-B069-B8E73F8FE75D}">
      <dgm:prSet phldr="0" custT="1"/>
      <dgm:spPr/>
      <dgm:t>
        <a:bodyPr/>
        <a:lstStyle/>
        <a:p>
          <a:pPr rtl="0"/>
          <a:r>
            <a:rPr lang="en-US" sz="1800" dirty="0">
              <a:latin typeface="Aptos Display" panose="02110004020202020204"/>
            </a:rPr>
            <a:t>Truck conversion time and transit time from source DC to distributor site </a:t>
          </a:r>
          <a:endParaRPr lang="en-US" sz="1800" dirty="0"/>
        </a:p>
      </dgm:t>
    </dgm:pt>
    <dgm:pt modelId="{8951B786-50D4-441E-8571-9018D6D1778F}" type="parTrans" cxnId="{417E25C0-7174-462D-AA60-39546FAFDE52}">
      <dgm:prSet/>
      <dgm:spPr/>
      <dgm:t>
        <a:bodyPr/>
        <a:lstStyle/>
        <a:p>
          <a:endParaRPr lang="en-US"/>
        </a:p>
      </dgm:t>
    </dgm:pt>
    <dgm:pt modelId="{BE59FCB7-EAD7-48F4-985F-1A1E1E258487}" type="sibTrans" cxnId="{417E25C0-7174-462D-AA60-39546FAFDE52}">
      <dgm:prSet/>
      <dgm:spPr/>
      <dgm:t>
        <a:bodyPr/>
        <a:lstStyle/>
        <a:p>
          <a:endParaRPr lang="en-US"/>
        </a:p>
      </dgm:t>
    </dgm:pt>
    <dgm:pt modelId="{53F279AA-F648-4051-A3DE-3C30E2E716D4}">
      <dgm:prSet phldr="0" custT="1"/>
      <dgm:spPr/>
      <dgm:t>
        <a:bodyPr/>
        <a:lstStyle/>
        <a:p>
          <a:pPr rtl="0"/>
          <a:r>
            <a:rPr lang="en-US" sz="1800" dirty="0">
              <a:latin typeface="Aptos Display" panose="02110004020202020204"/>
            </a:rPr>
            <a:t>Factor for service% from DC to distributor (</a:t>
          </a:r>
          <a:r>
            <a:rPr lang="nn-NO" sz="1800" b="0" i="0" dirty="0"/>
            <a:t>e.g., 90% = 1.28, 95% = 1.64, 99% = 2.33)</a:t>
          </a:r>
          <a:endParaRPr lang="en-US" sz="1800" dirty="0"/>
        </a:p>
      </dgm:t>
    </dgm:pt>
    <dgm:pt modelId="{9F9FD458-07B0-4EF6-A12D-E351DA541B6C}" type="parTrans" cxnId="{C4FF4174-5844-4B12-84FC-400675C02D3A}">
      <dgm:prSet/>
      <dgm:spPr/>
      <dgm:t>
        <a:bodyPr/>
        <a:lstStyle/>
        <a:p>
          <a:endParaRPr lang="en-US"/>
        </a:p>
      </dgm:t>
    </dgm:pt>
    <dgm:pt modelId="{66D9D36D-8C0D-4F79-8CA2-10BFBB596A02}" type="sibTrans" cxnId="{C4FF4174-5844-4B12-84FC-400675C02D3A}">
      <dgm:prSet/>
      <dgm:spPr/>
      <dgm:t>
        <a:bodyPr/>
        <a:lstStyle/>
        <a:p>
          <a:endParaRPr lang="en-US"/>
        </a:p>
      </dgm:t>
    </dgm:pt>
    <dgm:pt modelId="{C2AA9224-7CBA-4D3E-AC38-160F822A6C12}">
      <dgm:prSet phldr="0" custT="1"/>
      <dgm:spPr/>
      <dgm:t>
        <a:bodyPr/>
        <a:lstStyle/>
        <a:p>
          <a:pPr algn="l" rtl="0"/>
          <a:r>
            <a:rPr lang="en-US" sz="2400" b="1" dirty="0">
              <a:latin typeface="Calibri"/>
              <a:ea typeface="Calibri"/>
              <a:cs typeface="Calibri"/>
            </a:rPr>
            <a:t>SKU average demand</a:t>
          </a:r>
          <a:endParaRPr lang="en-US" sz="2400" dirty="0">
            <a:latin typeface="Calibri"/>
            <a:ea typeface="Calibri"/>
            <a:cs typeface="Calibri"/>
          </a:endParaRPr>
        </a:p>
      </dgm:t>
    </dgm:pt>
    <dgm:pt modelId="{B9224896-AD07-4D34-B078-0C3A3B69D74D}" type="parTrans" cxnId="{E00A65B4-21FD-4856-B87C-BEC282BC0987}">
      <dgm:prSet/>
      <dgm:spPr/>
      <dgm:t>
        <a:bodyPr/>
        <a:lstStyle/>
        <a:p>
          <a:endParaRPr lang="en-US"/>
        </a:p>
      </dgm:t>
    </dgm:pt>
    <dgm:pt modelId="{9FB94268-AA93-4785-BCBE-E0E9E303B5B3}" type="sibTrans" cxnId="{E00A65B4-21FD-4856-B87C-BEC282BC0987}">
      <dgm:prSet/>
      <dgm:spPr/>
      <dgm:t>
        <a:bodyPr/>
        <a:lstStyle/>
        <a:p>
          <a:endParaRPr lang="en-US"/>
        </a:p>
      </dgm:t>
    </dgm:pt>
    <dgm:pt modelId="{A2712C6F-5293-4E61-A184-CCB5846FFAE4}">
      <dgm:prSet phldr="0" custT="1"/>
      <dgm:spPr/>
      <dgm:t>
        <a:bodyPr/>
        <a:lstStyle/>
        <a:p>
          <a:pPr algn="l" rtl="0"/>
          <a:r>
            <a:rPr lang="en-US" sz="2400" b="1" dirty="0">
              <a:latin typeface="Calibri"/>
              <a:ea typeface="Calibri"/>
              <a:cs typeface="Calibri"/>
            </a:rPr>
            <a:t>Service Level Factor</a:t>
          </a:r>
          <a:endParaRPr lang="en-US" sz="2400" dirty="0">
            <a:latin typeface="Calibri"/>
            <a:ea typeface="Calibri"/>
            <a:cs typeface="Calibri"/>
          </a:endParaRPr>
        </a:p>
      </dgm:t>
    </dgm:pt>
    <dgm:pt modelId="{38CE9DF5-8A05-4377-B670-A98C2623809C}" type="parTrans" cxnId="{6CF2AAE0-84A8-4C93-969F-C6C590479EA4}">
      <dgm:prSet/>
      <dgm:spPr/>
      <dgm:t>
        <a:bodyPr/>
        <a:lstStyle/>
        <a:p>
          <a:endParaRPr lang="en-US"/>
        </a:p>
      </dgm:t>
    </dgm:pt>
    <dgm:pt modelId="{26F4B2C1-61F7-4D59-BC6C-BF62A914E5E9}" type="sibTrans" cxnId="{6CF2AAE0-84A8-4C93-969F-C6C590479EA4}">
      <dgm:prSet/>
      <dgm:spPr/>
      <dgm:t>
        <a:bodyPr/>
        <a:lstStyle/>
        <a:p>
          <a:endParaRPr lang="en-US"/>
        </a:p>
      </dgm:t>
    </dgm:pt>
    <dgm:pt modelId="{6C29EC1A-FF63-4305-B27F-B10D64665C3B}">
      <dgm:prSet phldr="0"/>
      <dgm:spPr/>
      <dgm:t>
        <a:bodyPr/>
        <a:lstStyle/>
        <a:p>
          <a:pPr rtl="0"/>
          <a:r>
            <a:rPr lang="en-US" sz="1800" b="0" dirty="0">
              <a:latin typeface="Aptos Display" panose="02110004020202020204"/>
              <a:ea typeface="Calibri"/>
              <a:cs typeface="Calibri"/>
            </a:rPr>
            <a:t>Example- Grooming inventory norms are higher for South sites due to higher lead time from </a:t>
          </a:r>
          <a:r>
            <a:rPr lang="en-US" sz="1800" b="0" dirty="0" err="1">
              <a:latin typeface="Aptos Display" panose="02110004020202020204"/>
              <a:ea typeface="Calibri"/>
              <a:cs typeface="Calibri"/>
            </a:rPr>
            <a:t>Baddi</a:t>
          </a:r>
          <a:r>
            <a:rPr lang="en-US" sz="1800" b="0" dirty="0">
              <a:latin typeface="Aptos Display" panose="02110004020202020204"/>
              <a:ea typeface="Calibri"/>
              <a:cs typeface="Calibri"/>
            </a:rPr>
            <a:t> DC</a:t>
          </a:r>
        </a:p>
      </dgm:t>
    </dgm:pt>
    <dgm:pt modelId="{808D4201-757F-462D-82E2-3CFE1F89B231}" type="parTrans" cxnId="{3EA0E396-5707-4C9B-9EE5-5DC7B64C11BB}">
      <dgm:prSet/>
      <dgm:spPr/>
      <dgm:t>
        <a:bodyPr/>
        <a:lstStyle/>
        <a:p>
          <a:endParaRPr lang="en-US"/>
        </a:p>
      </dgm:t>
    </dgm:pt>
    <dgm:pt modelId="{0CB2572B-0E1C-40E7-93EF-7A03665A02FD}" type="sibTrans" cxnId="{3EA0E396-5707-4C9B-9EE5-5DC7B64C11BB}">
      <dgm:prSet/>
      <dgm:spPr/>
      <dgm:t>
        <a:bodyPr/>
        <a:lstStyle/>
        <a:p>
          <a:endParaRPr lang="en-US"/>
        </a:p>
      </dgm:t>
    </dgm:pt>
    <dgm:pt modelId="{CDBBB96D-1CF3-482F-9303-91BC7A0706A3}" type="pres">
      <dgm:prSet presAssocID="{563EA851-A8B9-4CA2-9A5D-7E539047E647}" presName="Name0" presStyleCnt="0">
        <dgm:presLayoutVars>
          <dgm:dir/>
          <dgm:animLvl val="lvl"/>
          <dgm:resizeHandles val="exact"/>
        </dgm:presLayoutVars>
      </dgm:prSet>
      <dgm:spPr/>
    </dgm:pt>
    <dgm:pt modelId="{BC79881F-2F67-4450-97AD-7F7028C651CD}" type="pres">
      <dgm:prSet presAssocID="{C2AA9224-7CBA-4D3E-AC38-160F822A6C12}" presName="linNode" presStyleCnt="0"/>
      <dgm:spPr/>
    </dgm:pt>
    <dgm:pt modelId="{8E69CA9A-09A0-4386-B705-CDF8DB31B3CD}" type="pres">
      <dgm:prSet presAssocID="{C2AA9224-7CBA-4D3E-AC38-160F822A6C1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45C19AF-F5FF-434D-BE90-B4B5CFEF4F02}" type="pres">
      <dgm:prSet presAssocID="{C2AA9224-7CBA-4D3E-AC38-160F822A6C12}" presName="descendantText" presStyleLbl="alignAccFollowNode1" presStyleIdx="0" presStyleCnt="3">
        <dgm:presLayoutVars>
          <dgm:bulletEnabled val="1"/>
        </dgm:presLayoutVars>
      </dgm:prSet>
      <dgm:spPr/>
    </dgm:pt>
    <dgm:pt modelId="{9C38C8EF-54A2-4A84-9547-521954100E6E}" type="pres">
      <dgm:prSet presAssocID="{9FB94268-AA93-4785-BCBE-E0E9E303B5B3}" presName="sp" presStyleCnt="0"/>
      <dgm:spPr/>
    </dgm:pt>
    <dgm:pt modelId="{324E78DB-D948-4DC1-AEC6-95E5CC33940E}" type="pres">
      <dgm:prSet presAssocID="{4E59808E-30BE-4F12-A978-9E68C1A66B0E}" presName="linNode" presStyleCnt="0"/>
      <dgm:spPr/>
    </dgm:pt>
    <dgm:pt modelId="{66070608-3569-4BBF-A8DF-56A4DD02F201}" type="pres">
      <dgm:prSet presAssocID="{4E59808E-30BE-4F12-A978-9E68C1A66B0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4B0EF20-9765-442C-922D-74891115349F}" type="pres">
      <dgm:prSet presAssocID="{4E59808E-30BE-4F12-A978-9E68C1A66B0E}" presName="descendantText" presStyleLbl="alignAccFollowNode1" presStyleIdx="1" presStyleCnt="3">
        <dgm:presLayoutVars>
          <dgm:bulletEnabled val="1"/>
        </dgm:presLayoutVars>
      </dgm:prSet>
      <dgm:spPr/>
    </dgm:pt>
    <dgm:pt modelId="{F192061F-589F-4D1A-973F-19512DA47FE2}" type="pres">
      <dgm:prSet presAssocID="{E57460CC-E638-4203-BC6D-30A196C9DA14}" presName="sp" presStyleCnt="0"/>
      <dgm:spPr/>
    </dgm:pt>
    <dgm:pt modelId="{1BEE1E85-6D3E-4B9A-9976-B671445BA03C}" type="pres">
      <dgm:prSet presAssocID="{A2712C6F-5293-4E61-A184-CCB5846FFAE4}" presName="linNode" presStyleCnt="0"/>
      <dgm:spPr/>
    </dgm:pt>
    <dgm:pt modelId="{9B15721A-66EC-4BF9-909C-A4E02D5D1C04}" type="pres">
      <dgm:prSet presAssocID="{A2712C6F-5293-4E61-A184-CCB5846FFAE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E002DC5-1048-4032-85BA-6EFB3506CE6F}" type="pres">
      <dgm:prSet presAssocID="{A2712C6F-5293-4E61-A184-CCB5846FFAE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6F977903-AC71-4100-9C4F-25A6F2F1EDF7}" type="presOf" srcId="{53F279AA-F648-4051-A3DE-3C30E2E716D4}" destId="{4E002DC5-1048-4032-85BA-6EFB3506CE6F}" srcOrd="0" destOrd="0" presId="urn:microsoft.com/office/officeart/2005/8/layout/vList5"/>
    <dgm:cxn modelId="{CAB5DC6D-0211-4DA5-A124-85D44E357C11}" type="presOf" srcId="{F93B222C-1921-47D3-B48E-D9C8FF2C6E9D}" destId="{845C19AF-F5FF-434D-BE90-B4B5CFEF4F02}" srcOrd="0" destOrd="0" presId="urn:microsoft.com/office/officeart/2005/8/layout/vList5"/>
    <dgm:cxn modelId="{C4FF4174-5844-4B12-84FC-400675C02D3A}" srcId="{A2712C6F-5293-4E61-A184-CCB5846FFAE4}" destId="{53F279AA-F648-4051-A3DE-3C30E2E716D4}" srcOrd="0" destOrd="0" parTransId="{9F9FD458-07B0-4EF6-A12D-E351DA541B6C}" sibTransId="{66D9D36D-8C0D-4F79-8CA2-10BFBB596A02}"/>
    <dgm:cxn modelId="{B8E2E158-79A4-4D69-8D17-E1E18E4EADED}" type="presOf" srcId="{A2712C6F-5293-4E61-A184-CCB5846FFAE4}" destId="{9B15721A-66EC-4BF9-909C-A4E02D5D1C04}" srcOrd="0" destOrd="0" presId="urn:microsoft.com/office/officeart/2005/8/layout/vList5"/>
    <dgm:cxn modelId="{3EA0E396-5707-4C9B-9EE5-5DC7B64C11BB}" srcId="{4E59808E-30BE-4F12-A978-9E68C1A66B0E}" destId="{6C29EC1A-FF63-4305-B27F-B10D64665C3B}" srcOrd="1" destOrd="0" parTransId="{808D4201-757F-462D-82E2-3CFE1F89B231}" sibTransId="{0CB2572B-0E1C-40E7-93EF-7A03665A02FD}"/>
    <dgm:cxn modelId="{C62DAFAD-7ED3-4612-AB40-4D368D59A2A5}" type="presOf" srcId="{C2AA9224-7CBA-4D3E-AC38-160F822A6C12}" destId="{8E69CA9A-09A0-4386-B705-CDF8DB31B3CD}" srcOrd="0" destOrd="0" presId="urn:microsoft.com/office/officeart/2005/8/layout/vList5"/>
    <dgm:cxn modelId="{9FDC84B3-D09E-4536-9439-FBE1CF1ECC7C}" type="presOf" srcId="{AD424266-502D-427F-B069-B8E73F8FE75D}" destId="{54B0EF20-9765-442C-922D-74891115349F}" srcOrd="0" destOrd="0" presId="urn:microsoft.com/office/officeart/2005/8/layout/vList5"/>
    <dgm:cxn modelId="{E00A65B4-21FD-4856-B87C-BEC282BC0987}" srcId="{563EA851-A8B9-4CA2-9A5D-7E539047E647}" destId="{C2AA9224-7CBA-4D3E-AC38-160F822A6C12}" srcOrd="0" destOrd="0" parTransId="{B9224896-AD07-4D34-B078-0C3A3B69D74D}" sibTransId="{9FB94268-AA93-4785-BCBE-E0E9E303B5B3}"/>
    <dgm:cxn modelId="{6DC1DBB7-EAEC-464E-BE7E-BC99C9F7B153}" srcId="{C2AA9224-7CBA-4D3E-AC38-160F822A6C12}" destId="{F93B222C-1921-47D3-B48E-D9C8FF2C6E9D}" srcOrd="0" destOrd="0" parTransId="{69AF9E01-8C96-4C57-B0CE-2AC21D3C526C}" sibTransId="{0BCD6931-C4E7-40D9-A495-7EC7AD5DF487}"/>
    <dgm:cxn modelId="{417E25C0-7174-462D-AA60-39546FAFDE52}" srcId="{4E59808E-30BE-4F12-A978-9E68C1A66B0E}" destId="{AD424266-502D-427F-B069-B8E73F8FE75D}" srcOrd="0" destOrd="0" parTransId="{8951B786-50D4-441E-8571-9018D6D1778F}" sibTransId="{BE59FCB7-EAD7-48F4-985F-1A1E1E258487}"/>
    <dgm:cxn modelId="{FBB3AFC5-F1E1-48AE-809A-715112A5280E}" type="presOf" srcId="{6C29EC1A-FF63-4305-B27F-B10D64665C3B}" destId="{54B0EF20-9765-442C-922D-74891115349F}" srcOrd="0" destOrd="1" presId="urn:microsoft.com/office/officeart/2005/8/layout/vList5"/>
    <dgm:cxn modelId="{3A4469DA-ADCB-4027-A7CA-1843C0C83D4B}" type="presOf" srcId="{563EA851-A8B9-4CA2-9A5D-7E539047E647}" destId="{CDBBB96D-1CF3-482F-9303-91BC7A0706A3}" srcOrd="0" destOrd="0" presId="urn:microsoft.com/office/officeart/2005/8/layout/vList5"/>
    <dgm:cxn modelId="{6CF2AAE0-84A8-4C93-969F-C6C590479EA4}" srcId="{563EA851-A8B9-4CA2-9A5D-7E539047E647}" destId="{A2712C6F-5293-4E61-A184-CCB5846FFAE4}" srcOrd="2" destOrd="0" parTransId="{38CE9DF5-8A05-4377-B670-A98C2623809C}" sibTransId="{26F4B2C1-61F7-4D59-BC6C-BF62A914E5E9}"/>
    <dgm:cxn modelId="{5FC4D6E8-FDE3-41F0-8EE0-87E8DE4CE87E}" type="presOf" srcId="{4E59808E-30BE-4F12-A978-9E68C1A66B0E}" destId="{66070608-3569-4BBF-A8DF-56A4DD02F201}" srcOrd="0" destOrd="0" presId="urn:microsoft.com/office/officeart/2005/8/layout/vList5"/>
    <dgm:cxn modelId="{E6A87BF9-64C5-4F4C-930D-3FAED61A48AE}" srcId="{563EA851-A8B9-4CA2-9A5D-7E539047E647}" destId="{4E59808E-30BE-4F12-A978-9E68C1A66B0E}" srcOrd="1" destOrd="0" parTransId="{78662C5A-F349-41E1-8107-C98E1CB38B08}" sibTransId="{E57460CC-E638-4203-BC6D-30A196C9DA14}"/>
    <dgm:cxn modelId="{6177D1C3-DB4B-4B9C-8C7F-DF499DAD4C39}" type="presParOf" srcId="{CDBBB96D-1CF3-482F-9303-91BC7A0706A3}" destId="{BC79881F-2F67-4450-97AD-7F7028C651CD}" srcOrd="0" destOrd="0" presId="urn:microsoft.com/office/officeart/2005/8/layout/vList5"/>
    <dgm:cxn modelId="{D87A8127-0B26-44E0-9892-76BAEF66D35C}" type="presParOf" srcId="{BC79881F-2F67-4450-97AD-7F7028C651CD}" destId="{8E69CA9A-09A0-4386-B705-CDF8DB31B3CD}" srcOrd="0" destOrd="0" presId="urn:microsoft.com/office/officeart/2005/8/layout/vList5"/>
    <dgm:cxn modelId="{1A8AF769-2BE0-4B4B-A9FF-EFE2B33D6AF9}" type="presParOf" srcId="{BC79881F-2F67-4450-97AD-7F7028C651CD}" destId="{845C19AF-F5FF-434D-BE90-B4B5CFEF4F02}" srcOrd="1" destOrd="0" presId="urn:microsoft.com/office/officeart/2005/8/layout/vList5"/>
    <dgm:cxn modelId="{6EAD538F-D1EE-4BEC-B299-EC828E0DE123}" type="presParOf" srcId="{CDBBB96D-1CF3-482F-9303-91BC7A0706A3}" destId="{9C38C8EF-54A2-4A84-9547-521954100E6E}" srcOrd="1" destOrd="0" presId="urn:microsoft.com/office/officeart/2005/8/layout/vList5"/>
    <dgm:cxn modelId="{2AA4321E-9F81-48FF-BFD6-940573623486}" type="presParOf" srcId="{CDBBB96D-1CF3-482F-9303-91BC7A0706A3}" destId="{324E78DB-D948-4DC1-AEC6-95E5CC33940E}" srcOrd="2" destOrd="0" presId="urn:microsoft.com/office/officeart/2005/8/layout/vList5"/>
    <dgm:cxn modelId="{B9C59647-06EC-4E59-B80A-CC8591592CFD}" type="presParOf" srcId="{324E78DB-D948-4DC1-AEC6-95E5CC33940E}" destId="{66070608-3569-4BBF-A8DF-56A4DD02F201}" srcOrd="0" destOrd="0" presId="urn:microsoft.com/office/officeart/2005/8/layout/vList5"/>
    <dgm:cxn modelId="{847068CC-42CC-4CEC-9D2E-418CE4DF4D12}" type="presParOf" srcId="{324E78DB-D948-4DC1-AEC6-95E5CC33940E}" destId="{54B0EF20-9765-442C-922D-74891115349F}" srcOrd="1" destOrd="0" presId="urn:microsoft.com/office/officeart/2005/8/layout/vList5"/>
    <dgm:cxn modelId="{DCA22C61-2C69-4F24-BCB4-530E2989D26A}" type="presParOf" srcId="{CDBBB96D-1CF3-482F-9303-91BC7A0706A3}" destId="{F192061F-589F-4D1A-973F-19512DA47FE2}" srcOrd="3" destOrd="0" presId="urn:microsoft.com/office/officeart/2005/8/layout/vList5"/>
    <dgm:cxn modelId="{0CBF0EFB-69B4-46B8-8DB0-F2A1D584BD6B}" type="presParOf" srcId="{CDBBB96D-1CF3-482F-9303-91BC7A0706A3}" destId="{1BEE1E85-6D3E-4B9A-9976-B671445BA03C}" srcOrd="4" destOrd="0" presId="urn:microsoft.com/office/officeart/2005/8/layout/vList5"/>
    <dgm:cxn modelId="{C74AA869-758C-4FDE-BB85-04FF91713875}" type="presParOf" srcId="{1BEE1E85-6D3E-4B9A-9976-B671445BA03C}" destId="{9B15721A-66EC-4BF9-909C-A4E02D5D1C04}" srcOrd="0" destOrd="0" presId="urn:microsoft.com/office/officeart/2005/8/layout/vList5"/>
    <dgm:cxn modelId="{2832A69A-215F-418C-A5DF-864021A9B025}" type="presParOf" srcId="{1BEE1E85-6D3E-4B9A-9976-B671445BA03C}" destId="{4E002DC5-1048-4032-85BA-6EFB3506CE6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71C15-0EE8-4C95-9276-C4433BA0C068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64ED906-D06F-4C14-B0ED-89770FA9C7C0}">
      <dgm:prSet/>
      <dgm:spPr/>
      <dgm:t>
        <a:bodyPr/>
        <a:lstStyle/>
        <a:p>
          <a:r>
            <a:rPr lang="en-US"/>
            <a:t>Inventory DOH &gt; 180 basis P3M and P6M retailing.</a:t>
          </a:r>
        </a:p>
      </dgm:t>
    </dgm:pt>
    <dgm:pt modelId="{97352699-7F48-4FDD-902F-B0C582240501}" type="parTrans" cxnId="{5A3BDBB0-36B2-4957-8B9D-23E07670EC76}">
      <dgm:prSet/>
      <dgm:spPr/>
      <dgm:t>
        <a:bodyPr/>
        <a:lstStyle/>
        <a:p>
          <a:endParaRPr lang="en-US"/>
        </a:p>
      </dgm:t>
    </dgm:pt>
    <dgm:pt modelId="{CE580593-68AA-4428-AFE2-41C9A280C61C}" type="sibTrans" cxnId="{5A3BDBB0-36B2-4957-8B9D-23E07670EC76}">
      <dgm:prSet/>
      <dgm:spPr/>
      <dgm:t>
        <a:bodyPr/>
        <a:lstStyle/>
        <a:p>
          <a:endParaRPr lang="en-US"/>
        </a:p>
      </dgm:t>
    </dgm:pt>
    <dgm:pt modelId="{A3B51092-D70B-432F-B9D0-24D368F38CB4}">
      <dgm:prSet/>
      <dgm:spPr/>
      <dgm:t>
        <a:bodyPr/>
        <a:lstStyle/>
        <a:p>
          <a:r>
            <a:rPr lang="en-US"/>
            <a:t>SKU shouldn’t be released in P3M</a:t>
          </a:r>
        </a:p>
      </dgm:t>
    </dgm:pt>
    <dgm:pt modelId="{4F38A0B1-655C-41E4-A4A8-684BF96107EA}" type="parTrans" cxnId="{3D6221B4-A5CC-4AD5-AD77-8F0B7CA0141E}">
      <dgm:prSet/>
      <dgm:spPr/>
      <dgm:t>
        <a:bodyPr/>
        <a:lstStyle/>
        <a:p>
          <a:endParaRPr lang="en-US"/>
        </a:p>
      </dgm:t>
    </dgm:pt>
    <dgm:pt modelId="{13ADCC65-1B1E-40B6-A2F5-EE91408EE8D3}" type="sibTrans" cxnId="{3D6221B4-A5CC-4AD5-AD77-8F0B7CA0141E}">
      <dgm:prSet/>
      <dgm:spPr/>
      <dgm:t>
        <a:bodyPr/>
        <a:lstStyle/>
        <a:p>
          <a:endParaRPr lang="en-US"/>
        </a:p>
      </dgm:t>
    </dgm:pt>
    <dgm:pt modelId="{575D9442-35E1-47F7-95DE-2A44D636A5DC}">
      <dgm:prSet/>
      <dgm:spPr/>
      <dgm:t>
        <a:bodyPr/>
        <a:lstStyle/>
        <a:p>
          <a:r>
            <a:rPr lang="en-US"/>
            <a:t>No N6M demand in P&amp;G forecast</a:t>
          </a:r>
        </a:p>
      </dgm:t>
    </dgm:pt>
    <dgm:pt modelId="{28A1781E-57BA-49CC-A1F8-62CD742D50F9}" type="parTrans" cxnId="{6E38AE13-C0BD-4ED5-B44F-682E06D06848}">
      <dgm:prSet/>
      <dgm:spPr/>
      <dgm:t>
        <a:bodyPr/>
        <a:lstStyle/>
        <a:p>
          <a:endParaRPr lang="en-US"/>
        </a:p>
      </dgm:t>
    </dgm:pt>
    <dgm:pt modelId="{450DF052-306A-4321-9262-D7746B786E2A}" type="sibTrans" cxnId="{6E38AE13-C0BD-4ED5-B44F-682E06D06848}">
      <dgm:prSet/>
      <dgm:spPr/>
      <dgm:t>
        <a:bodyPr/>
        <a:lstStyle/>
        <a:p>
          <a:endParaRPr lang="en-US"/>
        </a:p>
      </dgm:t>
    </dgm:pt>
    <dgm:pt modelId="{BE299DFC-BC0A-4450-94D4-059BAE9FA7CB}">
      <dgm:prSet/>
      <dgm:spPr/>
      <dgm:t>
        <a:bodyPr/>
        <a:lstStyle/>
        <a:p>
          <a:r>
            <a:rPr lang="en-US"/>
            <a:t>No shipment from P&amp;G to Distributor in P3M</a:t>
          </a:r>
        </a:p>
      </dgm:t>
    </dgm:pt>
    <dgm:pt modelId="{8940436D-1FC3-4D11-8A3D-68223F5453DD}" type="parTrans" cxnId="{BDF9D61A-B04A-4C7D-8323-1BA6EB69A532}">
      <dgm:prSet/>
      <dgm:spPr/>
      <dgm:t>
        <a:bodyPr/>
        <a:lstStyle/>
        <a:p>
          <a:endParaRPr lang="en-US"/>
        </a:p>
      </dgm:t>
    </dgm:pt>
    <dgm:pt modelId="{65B36E01-7F15-40CE-BC6D-C401BF91E82B}" type="sibTrans" cxnId="{BDF9D61A-B04A-4C7D-8323-1BA6EB69A532}">
      <dgm:prSet/>
      <dgm:spPr/>
      <dgm:t>
        <a:bodyPr/>
        <a:lstStyle/>
        <a:p>
          <a:endParaRPr lang="en-US"/>
        </a:p>
      </dgm:t>
    </dgm:pt>
    <dgm:pt modelId="{82D81DEB-DDB1-4AB0-B406-EDD0876E5A8D}">
      <dgm:prSet/>
      <dgm:spPr/>
      <dgm:t>
        <a:bodyPr/>
        <a:lstStyle/>
        <a:p>
          <a:r>
            <a:rPr lang="en-US"/>
            <a:t>&gt;1000 INR value inv present at Site</a:t>
          </a:r>
        </a:p>
      </dgm:t>
    </dgm:pt>
    <dgm:pt modelId="{E5AE0DF3-A8B5-417E-955C-ED53F0249616}" type="parTrans" cxnId="{28030B2C-43BF-4450-AD34-E4DB954A2A52}">
      <dgm:prSet/>
      <dgm:spPr/>
      <dgm:t>
        <a:bodyPr/>
        <a:lstStyle/>
        <a:p>
          <a:endParaRPr lang="en-US"/>
        </a:p>
      </dgm:t>
    </dgm:pt>
    <dgm:pt modelId="{F84719FA-FF5C-4F57-8508-32B0C807BF1A}" type="sibTrans" cxnId="{28030B2C-43BF-4450-AD34-E4DB954A2A52}">
      <dgm:prSet/>
      <dgm:spPr/>
      <dgm:t>
        <a:bodyPr/>
        <a:lstStyle/>
        <a:p>
          <a:endParaRPr lang="en-US"/>
        </a:p>
      </dgm:t>
    </dgm:pt>
    <dgm:pt modelId="{A8A67A93-4CD5-471B-A9CA-CD015BA3660B}">
      <dgm:prSet/>
      <dgm:spPr/>
      <dgm:t>
        <a:bodyPr/>
        <a:lstStyle/>
        <a:p>
          <a:r>
            <a:rPr lang="en-US"/>
            <a:t>To be reported as % of total inventory, To be targeted at &lt;5%</a:t>
          </a:r>
        </a:p>
      </dgm:t>
    </dgm:pt>
    <dgm:pt modelId="{75F23E79-D24F-4849-8AFF-71B7C5F3FEB2}" type="parTrans" cxnId="{54D24B30-B25A-4BC7-97A1-6121C6D6B900}">
      <dgm:prSet/>
      <dgm:spPr/>
      <dgm:t>
        <a:bodyPr/>
        <a:lstStyle/>
        <a:p>
          <a:endParaRPr lang="en-US"/>
        </a:p>
      </dgm:t>
    </dgm:pt>
    <dgm:pt modelId="{ED88A5F2-BF3D-48C3-9EC2-6F66D39A0043}" type="sibTrans" cxnId="{54D24B30-B25A-4BC7-97A1-6121C6D6B900}">
      <dgm:prSet/>
      <dgm:spPr/>
      <dgm:t>
        <a:bodyPr/>
        <a:lstStyle/>
        <a:p>
          <a:endParaRPr lang="en-US"/>
        </a:p>
      </dgm:t>
    </dgm:pt>
    <dgm:pt modelId="{B4A614CA-DDE4-4D0F-B516-76E96B430B8F}" type="pres">
      <dgm:prSet presAssocID="{BBF71C15-0EE8-4C95-9276-C4433BA0C068}" presName="linear" presStyleCnt="0">
        <dgm:presLayoutVars>
          <dgm:animLvl val="lvl"/>
          <dgm:resizeHandles val="exact"/>
        </dgm:presLayoutVars>
      </dgm:prSet>
      <dgm:spPr/>
    </dgm:pt>
    <dgm:pt modelId="{7A9B63CE-FD00-43DE-95DE-E80E6563DCD8}" type="pres">
      <dgm:prSet presAssocID="{264ED906-D06F-4C14-B0ED-89770FA9C7C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3DA207A-96B2-4F6E-8FD1-97DD59CF840C}" type="pres">
      <dgm:prSet presAssocID="{CE580593-68AA-4428-AFE2-41C9A280C61C}" presName="spacer" presStyleCnt="0"/>
      <dgm:spPr/>
    </dgm:pt>
    <dgm:pt modelId="{F7639D96-5BC8-4E0C-91B7-3025212B3C31}" type="pres">
      <dgm:prSet presAssocID="{A3B51092-D70B-432F-B9D0-24D368F38CB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445C95F-0E4E-44AA-B507-1920229EFD33}" type="pres">
      <dgm:prSet presAssocID="{13ADCC65-1B1E-40B6-A2F5-EE91408EE8D3}" presName="spacer" presStyleCnt="0"/>
      <dgm:spPr/>
    </dgm:pt>
    <dgm:pt modelId="{B3823F76-2DA6-4F8E-B33E-049CF430D5A7}" type="pres">
      <dgm:prSet presAssocID="{575D9442-35E1-47F7-95DE-2A44D636A5D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675EF06-960D-4E00-B0D7-A003C0BD27BB}" type="pres">
      <dgm:prSet presAssocID="{450DF052-306A-4321-9262-D7746B786E2A}" presName="spacer" presStyleCnt="0"/>
      <dgm:spPr/>
    </dgm:pt>
    <dgm:pt modelId="{9F77236D-954B-4CD1-AB4D-C55965BE6D2E}" type="pres">
      <dgm:prSet presAssocID="{BE299DFC-BC0A-4450-94D4-059BAE9FA7C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B558381-24AC-4204-8B78-4030B0494D7D}" type="pres">
      <dgm:prSet presAssocID="{65B36E01-7F15-40CE-BC6D-C401BF91E82B}" presName="spacer" presStyleCnt="0"/>
      <dgm:spPr/>
    </dgm:pt>
    <dgm:pt modelId="{9BBA9BB9-578C-493E-AD15-70E889334772}" type="pres">
      <dgm:prSet presAssocID="{82D81DEB-DDB1-4AB0-B406-EDD0876E5A8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717CB64-8569-419F-8D80-5B6B7072DBDA}" type="pres">
      <dgm:prSet presAssocID="{F84719FA-FF5C-4F57-8508-32B0C807BF1A}" presName="spacer" presStyleCnt="0"/>
      <dgm:spPr/>
    </dgm:pt>
    <dgm:pt modelId="{4424CEDB-D857-4BA2-9F1E-8D5FDC88FD10}" type="pres">
      <dgm:prSet presAssocID="{A8A67A93-4CD5-471B-A9CA-CD015BA3660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E38AE13-C0BD-4ED5-B44F-682E06D06848}" srcId="{BBF71C15-0EE8-4C95-9276-C4433BA0C068}" destId="{575D9442-35E1-47F7-95DE-2A44D636A5DC}" srcOrd="2" destOrd="0" parTransId="{28A1781E-57BA-49CC-A1F8-62CD742D50F9}" sibTransId="{450DF052-306A-4321-9262-D7746B786E2A}"/>
    <dgm:cxn modelId="{BDF9D61A-B04A-4C7D-8323-1BA6EB69A532}" srcId="{BBF71C15-0EE8-4C95-9276-C4433BA0C068}" destId="{BE299DFC-BC0A-4450-94D4-059BAE9FA7CB}" srcOrd="3" destOrd="0" parTransId="{8940436D-1FC3-4D11-8A3D-68223F5453DD}" sibTransId="{65B36E01-7F15-40CE-BC6D-C401BF91E82B}"/>
    <dgm:cxn modelId="{28030B2C-43BF-4450-AD34-E4DB954A2A52}" srcId="{BBF71C15-0EE8-4C95-9276-C4433BA0C068}" destId="{82D81DEB-DDB1-4AB0-B406-EDD0876E5A8D}" srcOrd="4" destOrd="0" parTransId="{E5AE0DF3-A8B5-417E-955C-ED53F0249616}" sibTransId="{F84719FA-FF5C-4F57-8508-32B0C807BF1A}"/>
    <dgm:cxn modelId="{54D24B30-B25A-4BC7-97A1-6121C6D6B900}" srcId="{BBF71C15-0EE8-4C95-9276-C4433BA0C068}" destId="{A8A67A93-4CD5-471B-A9CA-CD015BA3660B}" srcOrd="5" destOrd="0" parTransId="{75F23E79-D24F-4849-8AFF-71B7C5F3FEB2}" sibTransId="{ED88A5F2-BF3D-48C3-9EC2-6F66D39A0043}"/>
    <dgm:cxn modelId="{54E8B944-397C-4E35-8EC6-430C37E5493C}" type="presOf" srcId="{A8A67A93-4CD5-471B-A9CA-CD015BA3660B}" destId="{4424CEDB-D857-4BA2-9F1E-8D5FDC88FD10}" srcOrd="0" destOrd="0" presId="urn:microsoft.com/office/officeart/2005/8/layout/vList2"/>
    <dgm:cxn modelId="{F0706666-A6DF-453D-8104-BF8FFA9502B9}" type="presOf" srcId="{82D81DEB-DDB1-4AB0-B406-EDD0876E5A8D}" destId="{9BBA9BB9-578C-493E-AD15-70E889334772}" srcOrd="0" destOrd="0" presId="urn:microsoft.com/office/officeart/2005/8/layout/vList2"/>
    <dgm:cxn modelId="{87A59F4D-CE3B-4D4C-A1DF-07B9EB916D62}" type="presOf" srcId="{575D9442-35E1-47F7-95DE-2A44D636A5DC}" destId="{B3823F76-2DA6-4F8E-B33E-049CF430D5A7}" srcOrd="0" destOrd="0" presId="urn:microsoft.com/office/officeart/2005/8/layout/vList2"/>
    <dgm:cxn modelId="{76A09790-BF98-4A9D-B533-4475114F9A29}" type="presOf" srcId="{264ED906-D06F-4C14-B0ED-89770FA9C7C0}" destId="{7A9B63CE-FD00-43DE-95DE-E80E6563DCD8}" srcOrd="0" destOrd="0" presId="urn:microsoft.com/office/officeart/2005/8/layout/vList2"/>
    <dgm:cxn modelId="{460246A3-56D3-4C0D-8445-D516F375E94E}" type="presOf" srcId="{BBF71C15-0EE8-4C95-9276-C4433BA0C068}" destId="{B4A614CA-DDE4-4D0F-B516-76E96B430B8F}" srcOrd="0" destOrd="0" presId="urn:microsoft.com/office/officeart/2005/8/layout/vList2"/>
    <dgm:cxn modelId="{5A3BDBB0-36B2-4957-8B9D-23E07670EC76}" srcId="{BBF71C15-0EE8-4C95-9276-C4433BA0C068}" destId="{264ED906-D06F-4C14-B0ED-89770FA9C7C0}" srcOrd="0" destOrd="0" parTransId="{97352699-7F48-4FDD-902F-B0C582240501}" sibTransId="{CE580593-68AA-4428-AFE2-41C9A280C61C}"/>
    <dgm:cxn modelId="{3D6221B4-A5CC-4AD5-AD77-8F0B7CA0141E}" srcId="{BBF71C15-0EE8-4C95-9276-C4433BA0C068}" destId="{A3B51092-D70B-432F-B9D0-24D368F38CB4}" srcOrd="1" destOrd="0" parTransId="{4F38A0B1-655C-41E4-A4A8-684BF96107EA}" sibTransId="{13ADCC65-1B1E-40B6-A2F5-EE91408EE8D3}"/>
    <dgm:cxn modelId="{32274BD0-9399-4225-90CC-E0BC69776293}" type="presOf" srcId="{BE299DFC-BC0A-4450-94D4-059BAE9FA7CB}" destId="{9F77236D-954B-4CD1-AB4D-C55965BE6D2E}" srcOrd="0" destOrd="0" presId="urn:microsoft.com/office/officeart/2005/8/layout/vList2"/>
    <dgm:cxn modelId="{C19A73F0-FC71-4692-ACF7-304CCFE9C41D}" type="presOf" srcId="{A3B51092-D70B-432F-B9D0-24D368F38CB4}" destId="{F7639D96-5BC8-4E0C-91B7-3025212B3C31}" srcOrd="0" destOrd="0" presId="urn:microsoft.com/office/officeart/2005/8/layout/vList2"/>
    <dgm:cxn modelId="{69A14CB3-A85A-4F15-96D9-ADD26F214D41}" type="presParOf" srcId="{B4A614CA-DDE4-4D0F-B516-76E96B430B8F}" destId="{7A9B63CE-FD00-43DE-95DE-E80E6563DCD8}" srcOrd="0" destOrd="0" presId="urn:microsoft.com/office/officeart/2005/8/layout/vList2"/>
    <dgm:cxn modelId="{05FB2645-EE1F-4390-A4C8-A4A3595E67BD}" type="presParOf" srcId="{B4A614CA-DDE4-4D0F-B516-76E96B430B8F}" destId="{43DA207A-96B2-4F6E-8FD1-97DD59CF840C}" srcOrd="1" destOrd="0" presId="urn:microsoft.com/office/officeart/2005/8/layout/vList2"/>
    <dgm:cxn modelId="{840772F8-6055-44DB-8978-E06DB8227321}" type="presParOf" srcId="{B4A614CA-DDE4-4D0F-B516-76E96B430B8F}" destId="{F7639D96-5BC8-4E0C-91B7-3025212B3C31}" srcOrd="2" destOrd="0" presId="urn:microsoft.com/office/officeart/2005/8/layout/vList2"/>
    <dgm:cxn modelId="{E033D993-94FB-4E70-81E8-AB52C67F1F27}" type="presParOf" srcId="{B4A614CA-DDE4-4D0F-B516-76E96B430B8F}" destId="{F445C95F-0E4E-44AA-B507-1920229EFD33}" srcOrd="3" destOrd="0" presId="urn:microsoft.com/office/officeart/2005/8/layout/vList2"/>
    <dgm:cxn modelId="{7E125EA4-A7BB-45FF-8373-E6ADC09D3120}" type="presParOf" srcId="{B4A614CA-DDE4-4D0F-B516-76E96B430B8F}" destId="{B3823F76-2DA6-4F8E-B33E-049CF430D5A7}" srcOrd="4" destOrd="0" presId="urn:microsoft.com/office/officeart/2005/8/layout/vList2"/>
    <dgm:cxn modelId="{1A78C0D2-256E-4C1C-AD7B-3CB4564FE5C8}" type="presParOf" srcId="{B4A614CA-DDE4-4D0F-B516-76E96B430B8F}" destId="{8675EF06-960D-4E00-B0D7-A003C0BD27BB}" srcOrd="5" destOrd="0" presId="urn:microsoft.com/office/officeart/2005/8/layout/vList2"/>
    <dgm:cxn modelId="{C1174538-CC02-4660-B94A-6E0B0DD0D835}" type="presParOf" srcId="{B4A614CA-DDE4-4D0F-B516-76E96B430B8F}" destId="{9F77236D-954B-4CD1-AB4D-C55965BE6D2E}" srcOrd="6" destOrd="0" presId="urn:microsoft.com/office/officeart/2005/8/layout/vList2"/>
    <dgm:cxn modelId="{D69A4E0E-03DA-48BB-B736-DADB9CA667CE}" type="presParOf" srcId="{B4A614CA-DDE4-4D0F-B516-76E96B430B8F}" destId="{1B558381-24AC-4204-8B78-4030B0494D7D}" srcOrd="7" destOrd="0" presId="urn:microsoft.com/office/officeart/2005/8/layout/vList2"/>
    <dgm:cxn modelId="{9E42B9D7-F49C-4996-94D3-9F5EEADD3EE8}" type="presParOf" srcId="{B4A614CA-DDE4-4D0F-B516-76E96B430B8F}" destId="{9BBA9BB9-578C-493E-AD15-70E889334772}" srcOrd="8" destOrd="0" presId="urn:microsoft.com/office/officeart/2005/8/layout/vList2"/>
    <dgm:cxn modelId="{1B82546F-0052-45A0-AE87-A386DDE612FE}" type="presParOf" srcId="{B4A614CA-DDE4-4D0F-B516-76E96B430B8F}" destId="{D717CB64-8569-419F-8D80-5B6B7072DBDA}" srcOrd="9" destOrd="0" presId="urn:microsoft.com/office/officeart/2005/8/layout/vList2"/>
    <dgm:cxn modelId="{EB5F2926-BB2F-4628-9CBA-79BF6CD6FF31}" type="presParOf" srcId="{B4A614CA-DDE4-4D0F-B516-76E96B430B8F}" destId="{4424CEDB-D857-4BA2-9F1E-8D5FDC88FD1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FF3D6B-82DE-49A4-96C0-FDAA0F2D0CE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8857331-C14A-46A0-8293-1994557F274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600">
              <a:solidFill>
                <a:srgbClr val="FFFFFF"/>
              </a:solidFill>
              <a:latin typeface="Aptos"/>
              <a:ea typeface="+mn-ea"/>
              <a:cs typeface="+mn-cs"/>
            </a:rPr>
            <a:t>Inventory DOH &gt; 90 basis P3M and P6M  retailing</a:t>
          </a:r>
        </a:p>
      </dgm:t>
    </dgm:pt>
    <dgm:pt modelId="{CE57CBC3-1781-49D4-960C-3C3E8B06A32B}" type="parTrans" cxnId="{DCED2EEA-5EC8-4DFF-822E-30E774DD81F2}">
      <dgm:prSet/>
      <dgm:spPr/>
      <dgm:t>
        <a:bodyPr/>
        <a:lstStyle/>
        <a:p>
          <a:endParaRPr lang="en-US"/>
        </a:p>
      </dgm:t>
    </dgm:pt>
    <dgm:pt modelId="{CAB3DF28-16B9-4515-81C2-25FB0CCEDED7}" type="sibTrans" cxnId="{DCED2EEA-5EC8-4DFF-822E-30E774DD81F2}">
      <dgm:prSet/>
      <dgm:spPr/>
      <dgm:t>
        <a:bodyPr/>
        <a:lstStyle/>
        <a:p>
          <a:endParaRPr lang="en-US"/>
        </a:p>
      </dgm:t>
    </dgm:pt>
    <dgm:pt modelId="{4143158E-AA43-406F-BEE1-0626E021A21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36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SKU shouldn’t be released in P3M</a:t>
          </a:r>
          <a:endParaRPr lang="en-US" sz="36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9B2D1323-7037-4C67-AD29-17EF0EED5C0B}" type="parTrans" cxnId="{87715659-C7DF-47DC-AB81-FE67ACE71818}">
      <dgm:prSet/>
      <dgm:spPr/>
      <dgm:t>
        <a:bodyPr/>
        <a:lstStyle/>
        <a:p>
          <a:endParaRPr lang="en-US"/>
        </a:p>
      </dgm:t>
    </dgm:pt>
    <dgm:pt modelId="{A8664CB1-4C1F-4361-B85C-A704B6F5D62F}" type="sibTrans" cxnId="{87715659-C7DF-47DC-AB81-FE67ACE71818}">
      <dgm:prSet/>
      <dgm:spPr/>
      <dgm:t>
        <a:bodyPr/>
        <a:lstStyle/>
        <a:p>
          <a:endParaRPr lang="en-US"/>
        </a:p>
      </dgm:t>
    </dgm:pt>
    <dgm:pt modelId="{53D9F5B1-D2D0-41BC-9C2F-15F821B702E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36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Reported as % of total inventory. To be targeted at &lt;5%</a:t>
          </a:r>
          <a:endParaRPr lang="en-US" sz="36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79CE8B85-BB52-4B76-99CC-BD972734A3A6}" type="parTrans" cxnId="{61B8D5EF-8AFD-4556-BEA8-FF3407460304}">
      <dgm:prSet/>
      <dgm:spPr/>
      <dgm:t>
        <a:bodyPr/>
        <a:lstStyle/>
        <a:p>
          <a:endParaRPr lang="en-US"/>
        </a:p>
      </dgm:t>
    </dgm:pt>
    <dgm:pt modelId="{94FD0A71-D82B-4134-9C92-1D6C40249154}" type="sibTrans" cxnId="{61B8D5EF-8AFD-4556-BEA8-FF3407460304}">
      <dgm:prSet/>
      <dgm:spPr/>
      <dgm:t>
        <a:bodyPr/>
        <a:lstStyle/>
        <a:p>
          <a:endParaRPr lang="en-US"/>
        </a:p>
      </dgm:t>
    </dgm:pt>
    <dgm:pt modelId="{31A04DFC-3115-4133-8977-0D735BB0E22D}" type="pres">
      <dgm:prSet presAssocID="{03FF3D6B-82DE-49A4-96C0-FDAA0F2D0CEF}" presName="linear" presStyleCnt="0">
        <dgm:presLayoutVars>
          <dgm:animLvl val="lvl"/>
          <dgm:resizeHandles val="exact"/>
        </dgm:presLayoutVars>
      </dgm:prSet>
      <dgm:spPr/>
    </dgm:pt>
    <dgm:pt modelId="{16731D66-ECFA-450A-8903-B80C653CD07C}" type="pres">
      <dgm:prSet presAssocID="{68857331-C14A-46A0-8293-1994557F27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16DE542-3AB5-4315-9A75-3E6FD91D8770}" type="pres">
      <dgm:prSet presAssocID="{CAB3DF28-16B9-4515-81C2-25FB0CCEDED7}" presName="spacer" presStyleCnt="0"/>
      <dgm:spPr/>
    </dgm:pt>
    <dgm:pt modelId="{6A4068CB-3208-4DFA-AB5C-AC8C531108AB}" type="pres">
      <dgm:prSet presAssocID="{4143158E-AA43-406F-BEE1-0626E021A21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7EE1D4-3B6E-4941-934B-8C103CDFDD67}" type="pres">
      <dgm:prSet presAssocID="{A8664CB1-4C1F-4361-B85C-A704B6F5D62F}" presName="spacer" presStyleCnt="0"/>
      <dgm:spPr/>
    </dgm:pt>
    <dgm:pt modelId="{49439451-4946-4F70-A4CA-44FB850AC9F1}" type="pres">
      <dgm:prSet presAssocID="{53D9F5B1-D2D0-41BC-9C2F-15F821B702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1E86C1D-2601-4E00-8A52-A62962B535C0}" type="presOf" srcId="{68857331-C14A-46A0-8293-1994557F2742}" destId="{16731D66-ECFA-450A-8903-B80C653CD07C}" srcOrd="0" destOrd="0" presId="urn:microsoft.com/office/officeart/2005/8/layout/vList2"/>
    <dgm:cxn modelId="{87715659-C7DF-47DC-AB81-FE67ACE71818}" srcId="{03FF3D6B-82DE-49A4-96C0-FDAA0F2D0CEF}" destId="{4143158E-AA43-406F-BEE1-0626E021A21E}" srcOrd="1" destOrd="0" parTransId="{9B2D1323-7037-4C67-AD29-17EF0EED5C0B}" sibTransId="{A8664CB1-4C1F-4361-B85C-A704B6F5D62F}"/>
    <dgm:cxn modelId="{5BCC30A1-65B3-4A98-9BE9-6E9D3EC594A0}" type="presOf" srcId="{4143158E-AA43-406F-BEE1-0626E021A21E}" destId="{6A4068CB-3208-4DFA-AB5C-AC8C531108AB}" srcOrd="0" destOrd="0" presId="urn:microsoft.com/office/officeart/2005/8/layout/vList2"/>
    <dgm:cxn modelId="{F419F1AB-1D29-46C5-A764-BFB5E0F0376B}" type="presOf" srcId="{03FF3D6B-82DE-49A4-96C0-FDAA0F2D0CEF}" destId="{31A04DFC-3115-4133-8977-0D735BB0E22D}" srcOrd="0" destOrd="0" presId="urn:microsoft.com/office/officeart/2005/8/layout/vList2"/>
    <dgm:cxn modelId="{6690BADF-EEB2-4958-B254-0F1B3BBBABD0}" type="presOf" srcId="{53D9F5B1-D2D0-41BC-9C2F-15F821B702EE}" destId="{49439451-4946-4F70-A4CA-44FB850AC9F1}" srcOrd="0" destOrd="0" presId="urn:microsoft.com/office/officeart/2005/8/layout/vList2"/>
    <dgm:cxn modelId="{DCED2EEA-5EC8-4DFF-822E-30E774DD81F2}" srcId="{03FF3D6B-82DE-49A4-96C0-FDAA0F2D0CEF}" destId="{68857331-C14A-46A0-8293-1994557F2742}" srcOrd="0" destOrd="0" parTransId="{CE57CBC3-1781-49D4-960C-3C3E8B06A32B}" sibTransId="{CAB3DF28-16B9-4515-81C2-25FB0CCEDED7}"/>
    <dgm:cxn modelId="{61B8D5EF-8AFD-4556-BEA8-FF3407460304}" srcId="{03FF3D6B-82DE-49A4-96C0-FDAA0F2D0CEF}" destId="{53D9F5B1-D2D0-41BC-9C2F-15F821B702EE}" srcOrd="2" destOrd="0" parTransId="{79CE8B85-BB52-4B76-99CC-BD972734A3A6}" sibTransId="{94FD0A71-D82B-4134-9C92-1D6C40249154}"/>
    <dgm:cxn modelId="{5AE774F5-6CF6-43EC-B1E8-6B85CFF74E71}" type="presParOf" srcId="{31A04DFC-3115-4133-8977-0D735BB0E22D}" destId="{16731D66-ECFA-450A-8903-B80C653CD07C}" srcOrd="0" destOrd="0" presId="urn:microsoft.com/office/officeart/2005/8/layout/vList2"/>
    <dgm:cxn modelId="{58A9B476-56F0-4516-B34E-0C04CF30D00D}" type="presParOf" srcId="{31A04DFC-3115-4133-8977-0D735BB0E22D}" destId="{316DE542-3AB5-4315-9A75-3E6FD91D8770}" srcOrd="1" destOrd="0" presId="urn:microsoft.com/office/officeart/2005/8/layout/vList2"/>
    <dgm:cxn modelId="{532D51C6-4390-46A5-A407-025670CEF89D}" type="presParOf" srcId="{31A04DFC-3115-4133-8977-0D735BB0E22D}" destId="{6A4068CB-3208-4DFA-AB5C-AC8C531108AB}" srcOrd="2" destOrd="0" presId="urn:microsoft.com/office/officeart/2005/8/layout/vList2"/>
    <dgm:cxn modelId="{6C90A8B8-47D3-4697-AE89-D36342FD41E2}" type="presParOf" srcId="{31A04DFC-3115-4133-8977-0D735BB0E22D}" destId="{757EE1D4-3B6E-4941-934B-8C103CDFDD67}" srcOrd="3" destOrd="0" presId="urn:microsoft.com/office/officeart/2005/8/layout/vList2"/>
    <dgm:cxn modelId="{5EE415E5-8774-465E-90E8-E60AF61CC68C}" type="presParOf" srcId="{31A04DFC-3115-4133-8977-0D735BB0E22D}" destId="{49439451-4946-4F70-A4CA-44FB850AC9F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6C3CD3-B837-4CCD-A032-53B4EB899B8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FDFE86E-0B21-4CD3-A117-3B0B3F108D89}">
      <dgm:prSet/>
      <dgm:spPr/>
      <dgm:t>
        <a:bodyPr/>
        <a:lstStyle/>
        <a:p>
          <a:r>
            <a:rPr lang="en-US"/>
            <a:t>Basis standard ABC analysis method.</a:t>
          </a:r>
        </a:p>
      </dgm:t>
    </dgm:pt>
    <dgm:pt modelId="{684A1E8B-8E00-4B82-8717-97A4085857DB}" type="parTrans" cxnId="{EF63A110-3411-419B-8C41-09D30964B33D}">
      <dgm:prSet/>
      <dgm:spPr/>
      <dgm:t>
        <a:bodyPr/>
        <a:lstStyle/>
        <a:p>
          <a:endParaRPr lang="en-US"/>
        </a:p>
      </dgm:t>
    </dgm:pt>
    <dgm:pt modelId="{75A8C3FF-79B3-44D2-9299-3F1906C8F199}" type="sibTrans" cxnId="{EF63A110-3411-419B-8C41-09D30964B33D}">
      <dgm:prSet/>
      <dgm:spPr/>
      <dgm:t>
        <a:bodyPr/>
        <a:lstStyle/>
        <a:p>
          <a:endParaRPr lang="en-US"/>
        </a:p>
      </dgm:t>
    </dgm:pt>
    <dgm:pt modelId="{777B5A2A-785D-40F4-86E4-03666DF8D1D3}">
      <dgm:prSet/>
      <dgm:spPr/>
      <dgm:t>
        <a:bodyPr/>
        <a:lstStyle/>
        <a:p>
          <a:r>
            <a:rPr lang="en-US"/>
            <a:t>C-Class SKUs are the bottom 10% contributing SKUs by business value salience basis P3M/P6M. (A-class is top 70%, B-class is next  20%)</a:t>
          </a:r>
        </a:p>
      </dgm:t>
    </dgm:pt>
    <dgm:pt modelId="{CB42F6FC-F645-46A6-B6C1-68FF6771B0D3}" type="parTrans" cxnId="{0A80DF58-D0A1-4502-9DE4-E1578805BCFE}">
      <dgm:prSet/>
      <dgm:spPr/>
      <dgm:t>
        <a:bodyPr/>
        <a:lstStyle/>
        <a:p>
          <a:endParaRPr lang="en-US"/>
        </a:p>
      </dgm:t>
    </dgm:pt>
    <dgm:pt modelId="{5F056931-2472-4784-9B01-0C9F926C3F72}" type="sibTrans" cxnId="{0A80DF58-D0A1-4502-9DE4-E1578805BCFE}">
      <dgm:prSet/>
      <dgm:spPr/>
      <dgm:t>
        <a:bodyPr/>
        <a:lstStyle/>
        <a:p>
          <a:endParaRPr lang="en-US"/>
        </a:p>
      </dgm:t>
    </dgm:pt>
    <dgm:pt modelId="{A2747C1C-86B9-4F75-91B7-9C34F0202396}">
      <dgm:prSet/>
      <dgm:spPr/>
      <dgm:t>
        <a:bodyPr/>
        <a:lstStyle/>
        <a:p>
          <a:r>
            <a:rPr lang="en-US"/>
            <a:t>% C-Class inventory is the % inventory by value held by distributor in C-Class SKUs.</a:t>
          </a:r>
        </a:p>
      </dgm:t>
    </dgm:pt>
    <dgm:pt modelId="{98835F43-C90D-4FE2-BDDD-E7FE63903562}" type="parTrans" cxnId="{327A53AC-46AE-4ADF-B194-3AA6A236F7DF}">
      <dgm:prSet/>
      <dgm:spPr/>
      <dgm:t>
        <a:bodyPr/>
        <a:lstStyle/>
        <a:p>
          <a:endParaRPr lang="en-US"/>
        </a:p>
      </dgm:t>
    </dgm:pt>
    <dgm:pt modelId="{3B7C96B8-7341-497A-910A-32B1A0CE89B7}" type="sibTrans" cxnId="{327A53AC-46AE-4ADF-B194-3AA6A236F7DF}">
      <dgm:prSet/>
      <dgm:spPr/>
      <dgm:t>
        <a:bodyPr/>
        <a:lstStyle/>
        <a:p>
          <a:endParaRPr lang="en-US"/>
        </a:p>
      </dgm:t>
    </dgm:pt>
    <dgm:pt modelId="{4E3DEDF0-1416-48D8-8BDE-CCD7DC924DDA}">
      <dgm:prSet/>
      <dgm:spPr/>
      <dgm:t>
        <a:bodyPr/>
        <a:lstStyle/>
        <a:p>
          <a:r>
            <a:rPr lang="en-US"/>
            <a:t>Reported as % of total inventory. (Acceptable to be 12-15%)</a:t>
          </a:r>
        </a:p>
      </dgm:t>
    </dgm:pt>
    <dgm:pt modelId="{619A3B59-DE6A-451C-96BB-5A598F8BBC67}" type="parTrans" cxnId="{AB791806-F1CA-48A3-8EFD-ABFC013FECE7}">
      <dgm:prSet/>
      <dgm:spPr/>
      <dgm:t>
        <a:bodyPr/>
        <a:lstStyle/>
        <a:p>
          <a:endParaRPr lang="en-US"/>
        </a:p>
      </dgm:t>
    </dgm:pt>
    <dgm:pt modelId="{4672EA55-45A0-439C-9C13-7C46EEF157B5}" type="sibTrans" cxnId="{AB791806-F1CA-48A3-8EFD-ABFC013FECE7}">
      <dgm:prSet/>
      <dgm:spPr/>
      <dgm:t>
        <a:bodyPr/>
        <a:lstStyle/>
        <a:p>
          <a:endParaRPr lang="en-US"/>
        </a:p>
      </dgm:t>
    </dgm:pt>
    <dgm:pt modelId="{C814858A-285D-4695-869C-8586FBD21EF6}">
      <dgm:prSet/>
      <dgm:spPr/>
      <dgm:t>
        <a:bodyPr/>
        <a:lstStyle/>
        <a:p>
          <a:r>
            <a:rPr lang="en-US"/>
            <a:t>Can be done at Category level to avoid irregularities.</a:t>
          </a:r>
        </a:p>
      </dgm:t>
    </dgm:pt>
    <dgm:pt modelId="{62F785F1-B112-4F07-B0D2-8FA931BE77A5}" type="parTrans" cxnId="{87481D50-620A-41BF-849E-6479D5E7FF85}">
      <dgm:prSet/>
      <dgm:spPr/>
      <dgm:t>
        <a:bodyPr/>
        <a:lstStyle/>
        <a:p>
          <a:endParaRPr lang="en-US"/>
        </a:p>
      </dgm:t>
    </dgm:pt>
    <dgm:pt modelId="{DF0229C6-6C5C-4130-8DA9-45753B19FD2E}" type="sibTrans" cxnId="{87481D50-620A-41BF-849E-6479D5E7FF85}">
      <dgm:prSet/>
      <dgm:spPr/>
      <dgm:t>
        <a:bodyPr/>
        <a:lstStyle/>
        <a:p>
          <a:endParaRPr lang="en-US"/>
        </a:p>
      </dgm:t>
    </dgm:pt>
    <dgm:pt modelId="{98FBF664-4214-4583-A796-C9C644BA88C7}" type="pres">
      <dgm:prSet presAssocID="{A86C3CD3-B837-4CCD-A032-53B4EB899B85}" presName="linear" presStyleCnt="0">
        <dgm:presLayoutVars>
          <dgm:animLvl val="lvl"/>
          <dgm:resizeHandles val="exact"/>
        </dgm:presLayoutVars>
      </dgm:prSet>
      <dgm:spPr/>
    </dgm:pt>
    <dgm:pt modelId="{E7DE71E7-D7D4-467D-93C3-C5BD9414A849}" type="pres">
      <dgm:prSet presAssocID="{3FDFE86E-0B21-4CD3-A117-3B0B3F108D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9A670F7-5BBB-4BBE-90F0-8854D88501CB}" type="pres">
      <dgm:prSet presAssocID="{75A8C3FF-79B3-44D2-9299-3F1906C8F199}" presName="spacer" presStyleCnt="0"/>
      <dgm:spPr/>
    </dgm:pt>
    <dgm:pt modelId="{ED555DED-937E-4E76-96A4-83B381A94FE3}" type="pres">
      <dgm:prSet presAssocID="{777B5A2A-785D-40F4-86E4-03666DF8D1D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659F87F-ECFD-4C7F-820B-2788115EED79}" type="pres">
      <dgm:prSet presAssocID="{5F056931-2472-4784-9B01-0C9F926C3F72}" presName="spacer" presStyleCnt="0"/>
      <dgm:spPr/>
    </dgm:pt>
    <dgm:pt modelId="{D8ADD433-295C-4B82-B3ED-70FB59B6FC40}" type="pres">
      <dgm:prSet presAssocID="{A2747C1C-86B9-4F75-91B7-9C34F02023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D5A1FF-18BD-4179-BA46-7FF6934512F6}" type="pres">
      <dgm:prSet presAssocID="{3B7C96B8-7341-497A-910A-32B1A0CE89B7}" presName="spacer" presStyleCnt="0"/>
      <dgm:spPr/>
    </dgm:pt>
    <dgm:pt modelId="{8A61DF8D-5941-4218-BBE6-97AA95B6791E}" type="pres">
      <dgm:prSet presAssocID="{4E3DEDF0-1416-48D8-8BDE-CCD7DC924DD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3A1541A-7B7B-4368-B5ED-FD1ECCBD0D61}" type="pres">
      <dgm:prSet presAssocID="{4672EA55-45A0-439C-9C13-7C46EEF157B5}" presName="spacer" presStyleCnt="0"/>
      <dgm:spPr/>
    </dgm:pt>
    <dgm:pt modelId="{B8626888-6A08-4789-867D-B7C605521C87}" type="pres">
      <dgm:prSet presAssocID="{C814858A-285D-4695-869C-8586FBD21EF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4421E04-1955-4ECE-96BE-0ABFDECB82BD}" type="presOf" srcId="{3FDFE86E-0B21-4CD3-A117-3B0B3F108D89}" destId="{E7DE71E7-D7D4-467D-93C3-C5BD9414A849}" srcOrd="0" destOrd="0" presId="urn:microsoft.com/office/officeart/2005/8/layout/vList2"/>
    <dgm:cxn modelId="{AB791806-F1CA-48A3-8EFD-ABFC013FECE7}" srcId="{A86C3CD3-B837-4CCD-A032-53B4EB899B85}" destId="{4E3DEDF0-1416-48D8-8BDE-CCD7DC924DDA}" srcOrd="3" destOrd="0" parTransId="{619A3B59-DE6A-451C-96BB-5A598F8BBC67}" sibTransId="{4672EA55-45A0-439C-9C13-7C46EEF157B5}"/>
    <dgm:cxn modelId="{EF63A110-3411-419B-8C41-09D30964B33D}" srcId="{A86C3CD3-B837-4CCD-A032-53B4EB899B85}" destId="{3FDFE86E-0B21-4CD3-A117-3B0B3F108D89}" srcOrd="0" destOrd="0" parTransId="{684A1E8B-8E00-4B82-8717-97A4085857DB}" sibTransId="{75A8C3FF-79B3-44D2-9299-3F1906C8F199}"/>
    <dgm:cxn modelId="{8CF99F26-AA5E-4360-9C19-865195F6D4D4}" type="presOf" srcId="{A2747C1C-86B9-4F75-91B7-9C34F0202396}" destId="{D8ADD433-295C-4B82-B3ED-70FB59B6FC40}" srcOrd="0" destOrd="0" presId="urn:microsoft.com/office/officeart/2005/8/layout/vList2"/>
    <dgm:cxn modelId="{87481D50-620A-41BF-849E-6479D5E7FF85}" srcId="{A86C3CD3-B837-4CCD-A032-53B4EB899B85}" destId="{C814858A-285D-4695-869C-8586FBD21EF6}" srcOrd="4" destOrd="0" parTransId="{62F785F1-B112-4F07-B0D2-8FA931BE77A5}" sibTransId="{DF0229C6-6C5C-4130-8DA9-45753B19FD2E}"/>
    <dgm:cxn modelId="{0A80DF58-D0A1-4502-9DE4-E1578805BCFE}" srcId="{A86C3CD3-B837-4CCD-A032-53B4EB899B85}" destId="{777B5A2A-785D-40F4-86E4-03666DF8D1D3}" srcOrd="1" destOrd="0" parTransId="{CB42F6FC-F645-46A6-B6C1-68FF6771B0D3}" sibTransId="{5F056931-2472-4784-9B01-0C9F926C3F72}"/>
    <dgm:cxn modelId="{1D22EA8F-4A24-4AEA-90FE-4CC88F3D59CC}" type="presOf" srcId="{4E3DEDF0-1416-48D8-8BDE-CCD7DC924DDA}" destId="{8A61DF8D-5941-4218-BBE6-97AA95B6791E}" srcOrd="0" destOrd="0" presId="urn:microsoft.com/office/officeart/2005/8/layout/vList2"/>
    <dgm:cxn modelId="{327A53AC-46AE-4ADF-B194-3AA6A236F7DF}" srcId="{A86C3CD3-B837-4CCD-A032-53B4EB899B85}" destId="{A2747C1C-86B9-4F75-91B7-9C34F0202396}" srcOrd="2" destOrd="0" parTransId="{98835F43-C90D-4FE2-BDDD-E7FE63903562}" sibTransId="{3B7C96B8-7341-497A-910A-32B1A0CE89B7}"/>
    <dgm:cxn modelId="{13352BE0-F101-4612-AFB1-42FCDCAB2C54}" type="presOf" srcId="{C814858A-285D-4695-869C-8586FBD21EF6}" destId="{B8626888-6A08-4789-867D-B7C605521C87}" srcOrd="0" destOrd="0" presId="urn:microsoft.com/office/officeart/2005/8/layout/vList2"/>
    <dgm:cxn modelId="{E929F3E1-F1A8-4E6A-9B0B-EB88CFA22276}" type="presOf" srcId="{A86C3CD3-B837-4CCD-A032-53B4EB899B85}" destId="{98FBF664-4214-4583-A796-C9C644BA88C7}" srcOrd="0" destOrd="0" presId="urn:microsoft.com/office/officeart/2005/8/layout/vList2"/>
    <dgm:cxn modelId="{2209F7F4-0D65-4128-B862-A7ECFE9FBFF1}" type="presOf" srcId="{777B5A2A-785D-40F4-86E4-03666DF8D1D3}" destId="{ED555DED-937E-4E76-96A4-83B381A94FE3}" srcOrd="0" destOrd="0" presId="urn:microsoft.com/office/officeart/2005/8/layout/vList2"/>
    <dgm:cxn modelId="{9A3D4E2F-20A6-4C0A-AA37-C9FE98B3A460}" type="presParOf" srcId="{98FBF664-4214-4583-A796-C9C644BA88C7}" destId="{E7DE71E7-D7D4-467D-93C3-C5BD9414A849}" srcOrd="0" destOrd="0" presId="urn:microsoft.com/office/officeart/2005/8/layout/vList2"/>
    <dgm:cxn modelId="{76D8AC4E-6E11-449C-9830-19ADF68C5A6F}" type="presParOf" srcId="{98FBF664-4214-4583-A796-C9C644BA88C7}" destId="{19A670F7-5BBB-4BBE-90F0-8854D88501CB}" srcOrd="1" destOrd="0" presId="urn:microsoft.com/office/officeart/2005/8/layout/vList2"/>
    <dgm:cxn modelId="{E13C92B9-EB9F-4EFF-A401-8303E4E0361D}" type="presParOf" srcId="{98FBF664-4214-4583-A796-C9C644BA88C7}" destId="{ED555DED-937E-4E76-96A4-83B381A94FE3}" srcOrd="2" destOrd="0" presId="urn:microsoft.com/office/officeart/2005/8/layout/vList2"/>
    <dgm:cxn modelId="{2A410AC1-315C-46F9-8F06-BC25399F3EAF}" type="presParOf" srcId="{98FBF664-4214-4583-A796-C9C644BA88C7}" destId="{C659F87F-ECFD-4C7F-820B-2788115EED79}" srcOrd="3" destOrd="0" presId="urn:microsoft.com/office/officeart/2005/8/layout/vList2"/>
    <dgm:cxn modelId="{D16671ED-0619-4CC2-82E1-17F19662B599}" type="presParOf" srcId="{98FBF664-4214-4583-A796-C9C644BA88C7}" destId="{D8ADD433-295C-4B82-B3ED-70FB59B6FC40}" srcOrd="4" destOrd="0" presId="urn:microsoft.com/office/officeart/2005/8/layout/vList2"/>
    <dgm:cxn modelId="{3CC14223-AEB0-4C94-B255-B1FE33638C9E}" type="presParOf" srcId="{98FBF664-4214-4583-A796-C9C644BA88C7}" destId="{E4D5A1FF-18BD-4179-BA46-7FF6934512F6}" srcOrd="5" destOrd="0" presId="urn:microsoft.com/office/officeart/2005/8/layout/vList2"/>
    <dgm:cxn modelId="{42E981F2-7D9F-418B-AB04-C32608766556}" type="presParOf" srcId="{98FBF664-4214-4583-A796-C9C644BA88C7}" destId="{8A61DF8D-5941-4218-BBE6-97AA95B6791E}" srcOrd="6" destOrd="0" presId="urn:microsoft.com/office/officeart/2005/8/layout/vList2"/>
    <dgm:cxn modelId="{BBB82B7D-EEDD-47C3-8DE0-EE1D71AE2801}" type="presParOf" srcId="{98FBF664-4214-4583-A796-C9C644BA88C7}" destId="{83A1541A-7B7B-4368-B5ED-FD1ECCBD0D61}" srcOrd="7" destOrd="0" presId="urn:microsoft.com/office/officeart/2005/8/layout/vList2"/>
    <dgm:cxn modelId="{A7458834-1C45-4D0E-8C63-19891DD15D09}" type="presParOf" srcId="{98FBF664-4214-4583-A796-C9C644BA88C7}" destId="{B8626888-6A08-4789-867D-B7C605521C8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3EA851-A8B9-4CA2-9A5D-7E539047E64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3F6EC1-F74A-4FE6-BA55-37E83E68290A}">
      <dgm:prSet/>
      <dgm:spPr/>
      <dgm:t>
        <a:bodyPr/>
        <a:lstStyle/>
        <a:p>
          <a:r>
            <a:rPr lang="en-US"/>
            <a:t>SKU is discontinued in MR, what to do?</a:t>
          </a:r>
        </a:p>
      </dgm:t>
    </dgm:pt>
    <dgm:pt modelId="{022F8652-8C5E-4289-9C0D-1A95398CCBAA}" type="parTrans" cxnId="{DB9D2A83-5CE2-4309-9B54-5DC4F719F369}">
      <dgm:prSet/>
      <dgm:spPr/>
      <dgm:t>
        <a:bodyPr/>
        <a:lstStyle/>
        <a:p>
          <a:endParaRPr lang="en-US"/>
        </a:p>
      </dgm:t>
    </dgm:pt>
    <dgm:pt modelId="{3FEE77D8-7B5C-4EB6-ABF8-72EEE560D4B0}" type="sibTrans" cxnId="{DB9D2A83-5CE2-4309-9B54-5DC4F719F369}">
      <dgm:prSet/>
      <dgm:spPr/>
      <dgm:t>
        <a:bodyPr/>
        <a:lstStyle/>
        <a:p>
          <a:endParaRPr lang="en-US"/>
        </a:p>
      </dgm:t>
    </dgm:pt>
    <dgm:pt modelId="{F93B222C-1921-47D3-B48E-D9C8FF2C6E9D}">
      <dgm:prSet/>
      <dgm:spPr/>
      <dgm:t>
        <a:bodyPr/>
        <a:lstStyle/>
        <a:p>
          <a:r>
            <a:rPr lang="en-US"/>
            <a:t>Was it shipped basis forecast/ Open POs? Can it be sold in other channels? Early signs, Engage CTLL for RMA within good shelf life.</a:t>
          </a:r>
        </a:p>
      </dgm:t>
    </dgm:pt>
    <dgm:pt modelId="{69AF9E01-8C96-4C57-B0CE-2AC21D3C526C}" type="parTrans" cxnId="{6DC1DBB7-EAEC-464E-BE7E-BC99C9F7B153}">
      <dgm:prSet/>
      <dgm:spPr/>
      <dgm:t>
        <a:bodyPr/>
        <a:lstStyle/>
        <a:p>
          <a:endParaRPr lang="en-US"/>
        </a:p>
      </dgm:t>
    </dgm:pt>
    <dgm:pt modelId="{0BCD6931-C4E7-40D9-A495-7EC7AD5DF487}" type="sibTrans" cxnId="{6DC1DBB7-EAEC-464E-BE7E-BC99C9F7B153}">
      <dgm:prSet/>
      <dgm:spPr/>
      <dgm:t>
        <a:bodyPr/>
        <a:lstStyle/>
        <a:p>
          <a:endParaRPr lang="en-US"/>
        </a:p>
      </dgm:t>
    </dgm:pt>
    <dgm:pt modelId="{4E59808E-30BE-4F12-A978-9E68C1A66B0E}">
      <dgm:prSet/>
      <dgm:spPr/>
      <dgm:t>
        <a:bodyPr/>
        <a:lstStyle/>
        <a:p>
          <a:r>
            <a:rPr lang="en-US"/>
            <a:t>SKU was shipped because of Promo/TPRs, now discontinued.</a:t>
          </a:r>
        </a:p>
      </dgm:t>
    </dgm:pt>
    <dgm:pt modelId="{78662C5A-F349-41E1-8107-C98E1CB38B08}" type="parTrans" cxnId="{E6A87BF9-64C5-4F4C-930D-3FAED61A48AE}">
      <dgm:prSet/>
      <dgm:spPr/>
      <dgm:t>
        <a:bodyPr/>
        <a:lstStyle/>
        <a:p>
          <a:endParaRPr lang="en-US"/>
        </a:p>
      </dgm:t>
    </dgm:pt>
    <dgm:pt modelId="{E57460CC-E638-4203-BC6D-30A196C9DA14}" type="sibTrans" cxnId="{E6A87BF9-64C5-4F4C-930D-3FAED61A48AE}">
      <dgm:prSet/>
      <dgm:spPr/>
      <dgm:t>
        <a:bodyPr/>
        <a:lstStyle/>
        <a:p>
          <a:endParaRPr lang="en-US"/>
        </a:p>
      </dgm:t>
    </dgm:pt>
    <dgm:pt modelId="{AD424266-502D-427F-B069-B8E73F8FE75D}">
      <dgm:prSet/>
      <dgm:spPr/>
      <dgm:t>
        <a:bodyPr/>
        <a:lstStyle/>
        <a:p>
          <a:r>
            <a:rPr lang="en-US"/>
            <a:t>Always sense check for BUP and tentative promo closure timeline. Engage KAM for next promo timelines, or other liquidation plans.</a:t>
          </a:r>
        </a:p>
      </dgm:t>
    </dgm:pt>
    <dgm:pt modelId="{8951B786-50D4-441E-8571-9018D6D1778F}" type="parTrans" cxnId="{417E25C0-7174-462D-AA60-39546FAFDE52}">
      <dgm:prSet/>
      <dgm:spPr/>
      <dgm:t>
        <a:bodyPr/>
        <a:lstStyle/>
        <a:p>
          <a:endParaRPr lang="en-US"/>
        </a:p>
      </dgm:t>
    </dgm:pt>
    <dgm:pt modelId="{BE59FCB7-EAD7-48F4-985F-1A1E1E258487}" type="sibTrans" cxnId="{417E25C0-7174-462D-AA60-39546FAFDE52}">
      <dgm:prSet/>
      <dgm:spPr/>
      <dgm:t>
        <a:bodyPr/>
        <a:lstStyle/>
        <a:p>
          <a:endParaRPr lang="en-US"/>
        </a:p>
      </dgm:t>
    </dgm:pt>
    <dgm:pt modelId="{D42F0D32-1DDE-4237-A6CA-137F84E6529D}">
      <dgm:prSet/>
      <dgm:spPr/>
      <dgm:t>
        <a:bodyPr/>
        <a:lstStyle/>
        <a:p>
          <a:r>
            <a:rPr lang="en-US"/>
            <a:t>Low-shelf life stock received, cant be sold.</a:t>
          </a:r>
        </a:p>
      </dgm:t>
    </dgm:pt>
    <dgm:pt modelId="{574F8335-6A87-4BC4-9F1A-DC8665467D92}" type="parTrans" cxnId="{E64A23ED-0C5C-485F-8E3F-25DDD9992A86}">
      <dgm:prSet/>
      <dgm:spPr/>
      <dgm:t>
        <a:bodyPr/>
        <a:lstStyle/>
        <a:p>
          <a:endParaRPr lang="en-US"/>
        </a:p>
      </dgm:t>
    </dgm:pt>
    <dgm:pt modelId="{B62FC341-5966-4321-A9E6-A7AF3C13633C}" type="sibTrans" cxnId="{E64A23ED-0C5C-485F-8E3F-25DDD9992A86}">
      <dgm:prSet/>
      <dgm:spPr/>
      <dgm:t>
        <a:bodyPr/>
        <a:lstStyle/>
        <a:p>
          <a:endParaRPr lang="en-US"/>
        </a:p>
      </dgm:t>
    </dgm:pt>
    <dgm:pt modelId="{53F279AA-F648-4051-A3DE-3C30E2E716D4}">
      <dgm:prSet/>
      <dgm:spPr/>
      <dgm:t>
        <a:bodyPr/>
        <a:lstStyle/>
        <a:p>
          <a:r>
            <a:rPr lang="en-US"/>
            <a:t>Engage with DTLL if shipped post P&amp;G SSD. If shipped purely for specific account/ channel with specific requirements, engage with CTLL for RMA. If shelf life is acceptable in other channels, plan retailing accordingly.</a:t>
          </a:r>
        </a:p>
      </dgm:t>
    </dgm:pt>
    <dgm:pt modelId="{9F9FD458-07B0-4EF6-A12D-E351DA541B6C}" type="parTrans" cxnId="{C4FF4174-5844-4B12-84FC-400675C02D3A}">
      <dgm:prSet/>
      <dgm:spPr/>
      <dgm:t>
        <a:bodyPr/>
        <a:lstStyle/>
        <a:p>
          <a:endParaRPr lang="en-US"/>
        </a:p>
      </dgm:t>
    </dgm:pt>
    <dgm:pt modelId="{66D9D36D-8C0D-4F79-8CA2-10BFBB596A02}" type="sibTrans" cxnId="{C4FF4174-5844-4B12-84FC-400675C02D3A}">
      <dgm:prSet/>
      <dgm:spPr/>
      <dgm:t>
        <a:bodyPr/>
        <a:lstStyle/>
        <a:p>
          <a:endParaRPr lang="en-US"/>
        </a:p>
      </dgm:t>
    </dgm:pt>
    <dgm:pt modelId="{F79C62F6-3363-4F0F-A6E1-DF843996D580}">
      <dgm:prSet/>
      <dgm:spPr/>
      <dgm:t>
        <a:bodyPr/>
        <a:lstStyle/>
        <a:p>
          <a:r>
            <a:rPr lang="en-US"/>
            <a:t>Built up for FB, now stuck!</a:t>
          </a:r>
        </a:p>
      </dgm:t>
    </dgm:pt>
    <dgm:pt modelId="{BBE9A233-A080-485D-AAC4-33FBA8D00DCC}" type="parTrans" cxnId="{DD6D00D1-B145-4A37-9EF6-086C93A37063}">
      <dgm:prSet/>
      <dgm:spPr/>
      <dgm:t>
        <a:bodyPr/>
        <a:lstStyle/>
        <a:p>
          <a:endParaRPr lang="en-US"/>
        </a:p>
      </dgm:t>
    </dgm:pt>
    <dgm:pt modelId="{D57792B3-79BC-4462-8942-E62DC22B33FB}" type="sibTrans" cxnId="{DD6D00D1-B145-4A37-9EF6-086C93A37063}">
      <dgm:prSet/>
      <dgm:spPr/>
      <dgm:t>
        <a:bodyPr/>
        <a:lstStyle/>
        <a:p>
          <a:endParaRPr lang="en-US"/>
        </a:p>
      </dgm:t>
    </dgm:pt>
    <dgm:pt modelId="{9783FC90-3891-40DE-BB92-95BAFC5F46FE}">
      <dgm:prSet/>
      <dgm:spPr/>
      <dgm:t>
        <a:bodyPr/>
        <a:lstStyle/>
        <a:p>
          <a:r>
            <a:rPr lang="en-US"/>
            <a:t>Plan FB shipment basis channel x coverage x hitrates for 40%, and dynamically thereafter. Good to have Sales team buy-in for build-up.</a:t>
          </a:r>
        </a:p>
      </dgm:t>
    </dgm:pt>
    <dgm:pt modelId="{83F97ACA-0848-44E6-8347-B67C179D389D}" type="parTrans" cxnId="{3984723C-1F78-4E4A-B8D5-FFCFDB293477}">
      <dgm:prSet/>
      <dgm:spPr/>
      <dgm:t>
        <a:bodyPr/>
        <a:lstStyle/>
        <a:p>
          <a:endParaRPr lang="en-US"/>
        </a:p>
      </dgm:t>
    </dgm:pt>
    <dgm:pt modelId="{E9A755F9-D145-4726-8559-AEA719267A09}" type="sibTrans" cxnId="{3984723C-1F78-4E4A-B8D5-FFCFDB293477}">
      <dgm:prSet/>
      <dgm:spPr/>
      <dgm:t>
        <a:bodyPr/>
        <a:lstStyle/>
        <a:p>
          <a:endParaRPr lang="en-US"/>
        </a:p>
      </dgm:t>
    </dgm:pt>
    <dgm:pt modelId="{CDBBB96D-1CF3-482F-9303-91BC7A0706A3}" type="pres">
      <dgm:prSet presAssocID="{563EA851-A8B9-4CA2-9A5D-7E539047E647}" presName="Name0" presStyleCnt="0">
        <dgm:presLayoutVars>
          <dgm:dir/>
          <dgm:animLvl val="lvl"/>
          <dgm:resizeHandles val="exact"/>
        </dgm:presLayoutVars>
      </dgm:prSet>
      <dgm:spPr/>
    </dgm:pt>
    <dgm:pt modelId="{5AA1D610-8F80-4192-AC36-E6EFDBE95CA5}" type="pres">
      <dgm:prSet presAssocID="{473F6EC1-F74A-4FE6-BA55-37E83E68290A}" presName="linNode" presStyleCnt="0"/>
      <dgm:spPr/>
    </dgm:pt>
    <dgm:pt modelId="{31450FA2-1AFE-4DEB-933D-D411EB26A93F}" type="pres">
      <dgm:prSet presAssocID="{473F6EC1-F74A-4FE6-BA55-37E83E68290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35C3764-583B-4DBA-A60E-DAA797163748}" type="pres">
      <dgm:prSet presAssocID="{473F6EC1-F74A-4FE6-BA55-37E83E68290A}" presName="descendantText" presStyleLbl="alignAccFollowNode1" presStyleIdx="0" presStyleCnt="4">
        <dgm:presLayoutVars>
          <dgm:bulletEnabled val="1"/>
        </dgm:presLayoutVars>
      </dgm:prSet>
      <dgm:spPr/>
    </dgm:pt>
    <dgm:pt modelId="{165919F5-517E-49E9-AAD4-AC5BD5434CC2}" type="pres">
      <dgm:prSet presAssocID="{3FEE77D8-7B5C-4EB6-ABF8-72EEE560D4B0}" presName="sp" presStyleCnt="0"/>
      <dgm:spPr/>
    </dgm:pt>
    <dgm:pt modelId="{324E78DB-D948-4DC1-AEC6-95E5CC33940E}" type="pres">
      <dgm:prSet presAssocID="{4E59808E-30BE-4F12-A978-9E68C1A66B0E}" presName="linNode" presStyleCnt="0"/>
      <dgm:spPr/>
    </dgm:pt>
    <dgm:pt modelId="{66070608-3569-4BBF-A8DF-56A4DD02F201}" type="pres">
      <dgm:prSet presAssocID="{4E59808E-30BE-4F12-A978-9E68C1A66B0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4B0EF20-9765-442C-922D-74891115349F}" type="pres">
      <dgm:prSet presAssocID="{4E59808E-30BE-4F12-A978-9E68C1A66B0E}" presName="descendantText" presStyleLbl="alignAccFollowNode1" presStyleIdx="1" presStyleCnt="4">
        <dgm:presLayoutVars>
          <dgm:bulletEnabled val="1"/>
        </dgm:presLayoutVars>
      </dgm:prSet>
      <dgm:spPr/>
    </dgm:pt>
    <dgm:pt modelId="{F192061F-589F-4D1A-973F-19512DA47FE2}" type="pres">
      <dgm:prSet presAssocID="{E57460CC-E638-4203-BC6D-30A196C9DA14}" presName="sp" presStyleCnt="0"/>
      <dgm:spPr/>
    </dgm:pt>
    <dgm:pt modelId="{5D5BF062-69CF-445E-9E56-D911C9151BC6}" type="pres">
      <dgm:prSet presAssocID="{D42F0D32-1DDE-4237-A6CA-137F84E6529D}" presName="linNode" presStyleCnt="0"/>
      <dgm:spPr/>
    </dgm:pt>
    <dgm:pt modelId="{B35FB985-AEEA-45BB-BAB7-5A4472E25B2D}" type="pres">
      <dgm:prSet presAssocID="{D42F0D32-1DDE-4237-A6CA-137F84E6529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4C04D39-6ABD-4FA4-9A95-002EF87CD93C}" type="pres">
      <dgm:prSet presAssocID="{D42F0D32-1DDE-4237-A6CA-137F84E6529D}" presName="descendantText" presStyleLbl="alignAccFollowNode1" presStyleIdx="2" presStyleCnt="4">
        <dgm:presLayoutVars>
          <dgm:bulletEnabled val="1"/>
        </dgm:presLayoutVars>
      </dgm:prSet>
      <dgm:spPr/>
    </dgm:pt>
    <dgm:pt modelId="{9BAE5E2E-E02D-4B13-9D6E-88287201D1F0}" type="pres">
      <dgm:prSet presAssocID="{B62FC341-5966-4321-A9E6-A7AF3C13633C}" presName="sp" presStyleCnt="0"/>
      <dgm:spPr/>
    </dgm:pt>
    <dgm:pt modelId="{D05CAE0D-34C8-4025-B59D-19731BE6BD18}" type="pres">
      <dgm:prSet presAssocID="{F79C62F6-3363-4F0F-A6E1-DF843996D580}" presName="linNode" presStyleCnt="0"/>
      <dgm:spPr/>
    </dgm:pt>
    <dgm:pt modelId="{502F101F-6825-4D30-8BE1-A1BF7828A5CF}" type="pres">
      <dgm:prSet presAssocID="{F79C62F6-3363-4F0F-A6E1-DF843996D580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F412C2E1-4FEA-4DFA-B2A2-96B0DBC6499F}" type="pres">
      <dgm:prSet presAssocID="{F79C62F6-3363-4F0F-A6E1-DF843996D580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984723C-1F78-4E4A-B8D5-FFCFDB293477}" srcId="{F79C62F6-3363-4F0F-A6E1-DF843996D580}" destId="{9783FC90-3891-40DE-BB92-95BAFC5F46FE}" srcOrd="0" destOrd="0" parTransId="{83F97ACA-0848-44E6-8347-B67C179D389D}" sibTransId="{E9A755F9-D145-4726-8559-AEA719267A09}"/>
    <dgm:cxn modelId="{C4FF4174-5844-4B12-84FC-400675C02D3A}" srcId="{D42F0D32-1DDE-4237-A6CA-137F84E6529D}" destId="{53F279AA-F648-4051-A3DE-3C30E2E716D4}" srcOrd="0" destOrd="0" parTransId="{9F9FD458-07B0-4EF6-A12D-E351DA541B6C}" sibTransId="{66D9D36D-8C0D-4F79-8CA2-10BFBB596A02}"/>
    <dgm:cxn modelId="{542E3F5A-71C5-473B-AAD6-20D6B8363BBE}" type="presOf" srcId="{53F279AA-F648-4051-A3DE-3C30E2E716D4}" destId="{B4C04D39-6ABD-4FA4-9A95-002EF87CD93C}" srcOrd="0" destOrd="0" presId="urn:microsoft.com/office/officeart/2005/8/layout/vList5"/>
    <dgm:cxn modelId="{322EAF7E-30D0-4BF6-8C06-BA8E68F775A6}" type="presOf" srcId="{9783FC90-3891-40DE-BB92-95BAFC5F46FE}" destId="{F412C2E1-4FEA-4DFA-B2A2-96B0DBC6499F}" srcOrd="0" destOrd="0" presId="urn:microsoft.com/office/officeart/2005/8/layout/vList5"/>
    <dgm:cxn modelId="{DB9D2A83-5CE2-4309-9B54-5DC4F719F369}" srcId="{563EA851-A8B9-4CA2-9A5D-7E539047E647}" destId="{473F6EC1-F74A-4FE6-BA55-37E83E68290A}" srcOrd="0" destOrd="0" parTransId="{022F8652-8C5E-4289-9C0D-1A95398CCBAA}" sibTransId="{3FEE77D8-7B5C-4EB6-ABF8-72EEE560D4B0}"/>
    <dgm:cxn modelId="{903A7E89-0371-445F-983D-578C521DC03A}" type="presOf" srcId="{F93B222C-1921-47D3-B48E-D9C8FF2C6E9D}" destId="{735C3764-583B-4DBA-A60E-DAA797163748}" srcOrd="0" destOrd="0" presId="urn:microsoft.com/office/officeart/2005/8/layout/vList5"/>
    <dgm:cxn modelId="{E050ACB3-3E20-4D63-8764-F773C06AC65F}" type="presOf" srcId="{D42F0D32-1DDE-4237-A6CA-137F84E6529D}" destId="{B35FB985-AEEA-45BB-BAB7-5A4472E25B2D}" srcOrd="0" destOrd="0" presId="urn:microsoft.com/office/officeart/2005/8/layout/vList5"/>
    <dgm:cxn modelId="{BE45D9B4-71F7-486C-9AC0-CDBA1ED6CF66}" type="presOf" srcId="{F79C62F6-3363-4F0F-A6E1-DF843996D580}" destId="{502F101F-6825-4D30-8BE1-A1BF7828A5CF}" srcOrd="0" destOrd="0" presId="urn:microsoft.com/office/officeart/2005/8/layout/vList5"/>
    <dgm:cxn modelId="{6DC1DBB7-EAEC-464E-BE7E-BC99C9F7B153}" srcId="{473F6EC1-F74A-4FE6-BA55-37E83E68290A}" destId="{F93B222C-1921-47D3-B48E-D9C8FF2C6E9D}" srcOrd="0" destOrd="0" parTransId="{69AF9E01-8C96-4C57-B0CE-2AC21D3C526C}" sibTransId="{0BCD6931-C4E7-40D9-A495-7EC7AD5DF487}"/>
    <dgm:cxn modelId="{417E25C0-7174-462D-AA60-39546FAFDE52}" srcId="{4E59808E-30BE-4F12-A978-9E68C1A66B0E}" destId="{AD424266-502D-427F-B069-B8E73F8FE75D}" srcOrd="0" destOrd="0" parTransId="{8951B786-50D4-441E-8571-9018D6D1778F}" sibTransId="{BE59FCB7-EAD7-48F4-985F-1A1E1E258487}"/>
    <dgm:cxn modelId="{DD6D00D1-B145-4A37-9EF6-086C93A37063}" srcId="{563EA851-A8B9-4CA2-9A5D-7E539047E647}" destId="{F79C62F6-3363-4F0F-A6E1-DF843996D580}" srcOrd="3" destOrd="0" parTransId="{BBE9A233-A080-485D-AAC4-33FBA8D00DCC}" sibTransId="{D57792B3-79BC-4462-8942-E62DC22B33FB}"/>
    <dgm:cxn modelId="{655153D7-9B1D-4C74-8AD8-A2C27D3ACFFE}" type="presOf" srcId="{4E59808E-30BE-4F12-A978-9E68C1A66B0E}" destId="{66070608-3569-4BBF-A8DF-56A4DD02F201}" srcOrd="0" destOrd="0" presId="urn:microsoft.com/office/officeart/2005/8/layout/vList5"/>
    <dgm:cxn modelId="{3A4469DA-ADCB-4027-A7CA-1843C0C83D4B}" type="presOf" srcId="{563EA851-A8B9-4CA2-9A5D-7E539047E647}" destId="{CDBBB96D-1CF3-482F-9303-91BC7A0706A3}" srcOrd="0" destOrd="0" presId="urn:microsoft.com/office/officeart/2005/8/layout/vList5"/>
    <dgm:cxn modelId="{E64A23ED-0C5C-485F-8E3F-25DDD9992A86}" srcId="{563EA851-A8B9-4CA2-9A5D-7E539047E647}" destId="{D42F0D32-1DDE-4237-A6CA-137F84E6529D}" srcOrd="2" destOrd="0" parTransId="{574F8335-6A87-4BC4-9F1A-DC8665467D92}" sibTransId="{B62FC341-5966-4321-A9E6-A7AF3C13633C}"/>
    <dgm:cxn modelId="{884F00F0-B79F-463F-B5DE-B963AF04B2AD}" type="presOf" srcId="{AD424266-502D-427F-B069-B8E73F8FE75D}" destId="{54B0EF20-9765-442C-922D-74891115349F}" srcOrd="0" destOrd="0" presId="urn:microsoft.com/office/officeart/2005/8/layout/vList5"/>
    <dgm:cxn modelId="{395292F5-B983-4C74-A5DE-8781194633C8}" type="presOf" srcId="{473F6EC1-F74A-4FE6-BA55-37E83E68290A}" destId="{31450FA2-1AFE-4DEB-933D-D411EB26A93F}" srcOrd="0" destOrd="0" presId="urn:microsoft.com/office/officeart/2005/8/layout/vList5"/>
    <dgm:cxn modelId="{E6A87BF9-64C5-4F4C-930D-3FAED61A48AE}" srcId="{563EA851-A8B9-4CA2-9A5D-7E539047E647}" destId="{4E59808E-30BE-4F12-A978-9E68C1A66B0E}" srcOrd="1" destOrd="0" parTransId="{78662C5A-F349-41E1-8107-C98E1CB38B08}" sibTransId="{E57460CC-E638-4203-BC6D-30A196C9DA14}"/>
    <dgm:cxn modelId="{AB319D23-60E3-4A38-ABCE-B7BD9CEA3E68}" type="presParOf" srcId="{CDBBB96D-1CF3-482F-9303-91BC7A0706A3}" destId="{5AA1D610-8F80-4192-AC36-E6EFDBE95CA5}" srcOrd="0" destOrd="0" presId="urn:microsoft.com/office/officeart/2005/8/layout/vList5"/>
    <dgm:cxn modelId="{5310D1C4-EA6F-481D-91EB-5DFFA1A08C1C}" type="presParOf" srcId="{5AA1D610-8F80-4192-AC36-E6EFDBE95CA5}" destId="{31450FA2-1AFE-4DEB-933D-D411EB26A93F}" srcOrd="0" destOrd="0" presId="urn:microsoft.com/office/officeart/2005/8/layout/vList5"/>
    <dgm:cxn modelId="{2259135A-978E-467B-83A8-5648EE25DF61}" type="presParOf" srcId="{5AA1D610-8F80-4192-AC36-E6EFDBE95CA5}" destId="{735C3764-583B-4DBA-A60E-DAA797163748}" srcOrd="1" destOrd="0" presId="urn:microsoft.com/office/officeart/2005/8/layout/vList5"/>
    <dgm:cxn modelId="{04373D19-C968-40E8-8B6C-CC510E29C05A}" type="presParOf" srcId="{CDBBB96D-1CF3-482F-9303-91BC7A0706A3}" destId="{165919F5-517E-49E9-AAD4-AC5BD5434CC2}" srcOrd="1" destOrd="0" presId="urn:microsoft.com/office/officeart/2005/8/layout/vList5"/>
    <dgm:cxn modelId="{28553438-15C3-45EE-91B2-AED54B9CF6E9}" type="presParOf" srcId="{CDBBB96D-1CF3-482F-9303-91BC7A0706A3}" destId="{324E78DB-D948-4DC1-AEC6-95E5CC33940E}" srcOrd="2" destOrd="0" presId="urn:microsoft.com/office/officeart/2005/8/layout/vList5"/>
    <dgm:cxn modelId="{0D032583-B8C6-409A-8073-66EDA7BE4F45}" type="presParOf" srcId="{324E78DB-D948-4DC1-AEC6-95E5CC33940E}" destId="{66070608-3569-4BBF-A8DF-56A4DD02F201}" srcOrd="0" destOrd="0" presId="urn:microsoft.com/office/officeart/2005/8/layout/vList5"/>
    <dgm:cxn modelId="{F15DD397-5D20-4C7F-A862-DAFE50316F14}" type="presParOf" srcId="{324E78DB-D948-4DC1-AEC6-95E5CC33940E}" destId="{54B0EF20-9765-442C-922D-74891115349F}" srcOrd="1" destOrd="0" presId="urn:microsoft.com/office/officeart/2005/8/layout/vList5"/>
    <dgm:cxn modelId="{FCDD6B96-D54F-4654-BEF3-32B65E3EBA4E}" type="presParOf" srcId="{CDBBB96D-1CF3-482F-9303-91BC7A0706A3}" destId="{F192061F-589F-4D1A-973F-19512DA47FE2}" srcOrd="3" destOrd="0" presId="urn:microsoft.com/office/officeart/2005/8/layout/vList5"/>
    <dgm:cxn modelId="{20858EE0-BD41-4653-8409-51887EF447CF}" type="presParOf" srcId="{CDBBB96D-1CF3-482F-9303-91BC7A0706A3}" destId="{5D5BF062-69CF-445E-9E56-D911C9151BC6}" srcOrd="4" destOrd="0" presId="urn:microsoft.com/office/officeart/2005/8/layout/vList5"/>
    <dgm:cxn modelId="{3E4DAD37-FD12-4E1D-AD56-324ECF5568FE}" type="presParOf" srcId="{5D5BF062-69CF-445E-9E56-D911C9151BC6}" destId="{B35FB985-AEEA-45BB-BAB7-5A4472E25B2D}" srcOrd="0" destOrd="0" presId="urn:microsoft.com/office/officeart/2005/8/layout/vList5"/>
    <dgm:cxn modelId="{9225D5C4-7ABB-4746-9A14-0D76ACAABAB2}" type="presParOf" srcId="{5D5BF062-69CF-445E-9E56-D911C9151BC6}" destId="{B4C04D39-6ABD-4FA4-9A95-002EF87CD93C}" srcOrd="1" destOrd="0" presId="urn:microsoft.com/office/officeart/2005/8/layout/vList5"/>
    <dgm:cxn modelId="{832BF3BE-DA86-40B2-8A78-1CD5D8218904}" type="presParOf" srcId="{CDBBB96D-1CF3-482F-9303-91BC7A0706A3}" destId="{9BAE5E2E-E02D-4B13-9D6E-88287201D1F0}" srcOrd="5" destOrd="0" presId="urn:microsoft.com/office/officeart/2005/8/layout/vList5"/>
    <dgm:cxn modelId="{C9E60762-20A6-46F9-B31D-76748AB9E0A5}" type="presParOf" srcId="{CDBBB96D-1CF3-482F-9303-91BC7A0706A3}" destId="{D05CAE0D-34C8-4025-B59D-19731BE6BD18}" srcOrd="6" destOrd="0" presId="urn:microsoft.com/office/officeart/2005/8/layout/vList5"/>
    <dgm:cxn modelId="{DBED0680-28B9-4C91-804D-DC18FF76B36B}" type="presParOf" srcId="{D05CAE0D-34C8-4025-B59D-19731BE6BD18}" destId="{502F101F-6825-4D30-8BE1-A1BF7828A5CF}" srcOrd="0" destOrd="0" presId="urn:microsoft.com/office/officeart/2005/8/layout/vList5"/>
    <dgm:cxn modelId="{90F8EA95-E033-4B46-9220-D9F736878227}" type="presParOf" srcId="{D05CAE0D-34C8-4025-B59D-19731BE6BD18}" destId="{F412C2E1-4FEA-4DFA-B2A2-96B0DBC6499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C19AF-F5FF-434D-BE90-B4B5CFEF4F02}">
      <dsp:nvSpPr>
        <dsp:cNvPr id="0" name=""/>
        <dsp:cNvSpPr/>
      </dsp:nvSpPr>
      <dsp:spPr>
        <a:xfrm rot="5400000">
          <a:off x="7387678" y="-3143391"/>
          <a:ext cx="850774" cy="73534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2889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kern="1200" dirty="0">
              <a:latin typeface="Aptos Display" panose="02110004020202020204"/>
            </a:rPr>
            <a:t> </a:t>
          </a:r>
          <a:r>
            <a:rPr lang="en-US" sz="1800" kern="1200" dirty="0">
              <a:latin typeface="Aptos Display" panose="02110004020202020204"/>
            </a:rPr>
            <a:t>Norms for SKUs with higher salience need to be higher</a:t>
          </a:r>
          <a:endParaRPr lang="en-US" sz="1800" kern="1200" dirty="0"/>
        </a:p>
      </dsp:txBody>
      <dsp:txXfrm rot="-5400000">
        <a:off x="4136329" y="149489"/>
        <a:ext cx="7311942" cy="767712"/>
      </dsp:txXfrm>
    </dsp:sp>
    <dsp:sp modelId="{8E69CA9A-09A0-4386-B705-CDF8DB31B3CD}">
      <dsp:nvSpPr>
        <dsp:cNvPr id="0" name=""/>
        <dsp:cNvSpPr/>
      </dsp:nvSpPr>
      <dsp:spPr>
        <a:xfrm>
          <a:off x="0" y="1611"/>
          <a:ext cx="4136328" cy="10634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/>
              <a:ea typeface="Calibri"/>
              <a:cs typeface="Calibri"/>
            </a:rPr>
            <a:t>SKU average demand</a:t>
          </a:r>
          <a:endParaRPr lang="en-US" sz="2400" kern="1200" dirty="0">
            <a:latin typeface="Calibri"/>
            <a:ea typeface="Calibri"/>
            <a:cs typeface="Calibri"/>
          </a:endParaRPr>
        </a:p>
      </dsp:txBody>
      <dsp:txXfrm>
        <a:off x="51914" y="53525"/>
        <a:ext cx="4032500" cy="959639"/>
      </dsp:txXfrm>
    </dsp:sp>
    <dsp:sp modelId="{54B0EF20-9765-442C-922D-74891115349F}">
      <dsp:nvSpPr>
        <dsp:cNvPr id="0" name=""/>
        <dsp:cNvSpPr/>
      </dsp:nvSpPr>
      <dsp:spPr>
        <a:xfrm rot="5400000">
          <a:off x="7387678" y="-2026750"/>
          <a:ext cx="850774" cy="73534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ptos Display" panose="02110004020202020204"/>
            </a:rPr>
            <a:t>Truck conversion time and transit time from source DC to distributor site 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latin typeface="Aptos Display" panose="02110004020202020204"/>
              <a:ea typeface="Calibri"/>
              <a:cs typeface="Calibri"/>
            </a:rPr>
            <a:t>Example- Grooming inventory norms are higher for South sites due to higher lead time from </a:t>
          </a:r>
          <a:r>
            <a:rPr lang="en-US" sz="1800" b="0" kern="1200" dirty="0" err="1">
              <a:latin typeface="Aptos Display" panose="02110004020202020204"/>
              <a:ea typeface="Calibri"/>
              <a:cs typeface="Calibri"/>
            </a:rPr>
            <a:t>Baddi</a:t>
          </a:r>
          <a:r>
            <a:rPr lang="en-US" sz="1800" b="0" kern="1200" dirty="0">
              <a:latin typeface="Aptos Display" panose="02110004020202020204"/>
              <a:ea typeface="Calibri"/>
              <a:cs typeface="Calibri"/>
            </a:rPr>
            <a:t> DC</a:t>
          </a:r>
        </a:p>
      </dsp:txBody>
      <dsp:txXfrm rot="-5400000">
        <a:off x="4136329" y="1266130"/>
        <a:ext cx="7311942" cy="767712"/>
      </dsp:txXfrm>
    </dsp:sp>
    <dsp:sp modelId="{66070608-3569-4BBF-A8DF-56A4DD02F201}">
      <dsp:nvSpPr>
        <dsp:cNvPr id="0" name=""/>
        <dsp:cNvSpPr/>
      </dsp:nvSpPr>
      <dsp:spPr>
        <a:xfrm>
          <a:off x="0" y="1118252"/>
          <a:ext cx="4136328" cy="10634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/>
              <a:ea typeface="Calibri"/>
              <a:cs typeface="Calibri"/>
            </a:rPr>
            <a:t>Standard deviation in Lead time from source DC</a:t>
          </a:r>
          <a:endParaRPr lang="en-US" sz="2400" kern="1200" dirty="0"/>
        </a:p>
      </dsp:txBody>
      <dsp:txXfrm>
        <a:off x="51914" y="1170166"/>
        <a:ext cx="4032500" cy="959639"/>
      </dsp:txXfrm>
    </dsp:sp>
    <dsp:sp modelId="{4E002DC5-1048-4032-85BA-6EFB3506CE6F}">
      <dsp:nvSpPr>
        <dsp:cNvPr id="0" name=""/>
        <dsp:cNvSpPr/>
      </dsp:nvSpPr>
      <dsp:spPr>
        <a:xfrm rot="5400000">
          <a:off x="7387678" y="-910109"/>
          <a:ext cx="850774" cy="73534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ptos Display" panose="02110004020202020204"/>
            </a:rPr>
            <a:t>Factor for service% from DC to distributor (</a:t>
          </a:r>
          <a:r>
            <a:rPr lang="nn-NO" sz="1800" b="0" i="0" kern="1200" dirty="0"/>
            <a:t>e.g., 90% = 1.28, 95% = 1.64, 99% = 2.33)</a:t>
          </a:r>
          <a:endParaRPr lang="en-US" sz="1800" kern="1200" dirty="0"/>
        </a:p>
      </dsp:txBody>
      <dsp:txXfrm rot="-5400000">
        <a:off x="4136329" y="2382771"/>
        <a:ext cx="7311942" cy="767712"/>
      </dsp:txXfrm>
    </dsp:sp>
    <dsp:sp modelId="{9B15721A-66EC-4BF9-909C-A4E02D5D1C04}">
      <dsp:nvSpPr>
        <dsp:cNvPr id="0" name=""/>
        <dsp:cNvSpPr/>
      </dsp:nvSpPr>
      <dsp:spPr>
        <a:xfrm>
          <a:off x="0" y="2234893"/>
          <a:ext cx="4136328" cy="10634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/>
              <a:ea typeface="Calibri"/>
              <a:cs typeface="Calibri"/>
            </a:rPr>
            <a:t>Service Level Factor</a:t>
          </a:r>
          <a:endParaRPr lang="en-US" sz="2400" kern="1200" dirty="0">
            <a:latin typeface="Calibri"/>
            <a:ea typeface="Calibri"/>
            <a:cs typeface="Calibri"/>
          </a:endParaRPr>
        </a:p>
      </dsp:txBody>
      <dsp:txXfrm>
        <a:off x="51914" y="2286807"/>
        <a:ext cx="4032500" cy="959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9B63CE-FD00-43DE-95DE-E80E6563DCD8}">
      <dsp:nvSpPr>
        <dsp:cNvPr id="0" name=""/>
        <dsp:cNvSpPr/>
      </dsp:nvSpPr>
      <dsp:spPr>
        <a:xfrm>
          <a:off x="0" y="234408"/>
          <a:ext cx="6798539" cy="491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Inventory DOH &gt; 180 basis P3M and P6M retailing.</a:t>
          </a:r>
        </a:p>
      </dsp:txBody>
      <dsp:txXfrm>
        <a:off x="23988" y="258396"/>
        <a:ext cx="6750563" cy="443424"/>
      </dsp:txXfrm>
    </dsp:sp>
    <dsp:sp modelId="{F7639D96-5BC8-4E0C-91B7-3025212B3C31}">
      <dsp:nvSpPr>
        <dsp:cNvPr id="0" name=""/>
        <dsp:cNvSpPr/>
      </dsp:nvSpPr>
      <dsp:spPr>
        <a:xfrm>
          <a:off x="0" y="783408"/>
          <a:ext cx="6798539" cy="49140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SKU shouldn’t be released in P3M</a:t>
          </a:r>
        </a:p>
      </dsp:txBody>
      <dsp:txXfrm>
        <a:off x="23988" y="807396"/>
        <a:ext cx="6750563" cy="443424"/>
      </dsp:txXfrm>
    </dsp:sp>
    <dsp:sp modelId="{B3823F76-2DA6-4F8E-B33E-049CF430D5A7}">
      <dsp:nvSpPr>
        <dsp:cNvPr id="0" name=""/>
        <dsp:cNvSpPr/>
      </dsp:nvSpPr>
      <dsp:spPr>
        <a:xfrm>
          <a:off x="0" y="1332408"/>
          <a:ext cx="6798539" cy="49140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N6M demand in P&amp;G forecast</a:t>
          </a:r>
        </a:p>
      </dsp:txBody>
      <dsp:txXfrm>
        <a:off x="23988" y="1356396"/>
        <a:ext cx="6750563" cy="443424"/>
      </dsp:txXfrm>
    </dsp:sp>
    <dsp:sp modelId="{9F77236D-954B-4CD1-AB4D-C55965BE6D2E}">
      <dsp:nvSpPr>
        <dsp:cNvPr id="0" name=""/>
        <dsp:cNvSpPr/>
      </dsp:nvSpPr>
      <dsp:spPr>
        <a:xfrm>
          <a:off x="0" y="1881408"/>
          <a:ext cx="6798539" cy="49140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shipment from P&amp;G to Distributor in P3M</a:t>
          </a:r>
        </a:p>
      </dsp:txBody>
      <dsp:txXfrm>
        <a:off x="23988" y="1905396"/>
        <a:ext cx="6750563" cy="443424"/>
      </dsp:txXfrm>
    </dsp:sp>
    <dsp:sp modelId="{9BBA9BB9-578C-493E-AD15-70E889334772}">
      <dsp:nvSpPr>
        <dsp:cNvPr id="0" name=""/>
        <dsp:cNvSpPr/>
      </dsp:nvSpPr>
      <dsp:spPr>
        <a:xfrm>
          <a:off x="0" y="2430408"/>
          <a:ext cx="6798539" cy="49140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&gt;1000 INR value inv present at Site</a:t>
          </a:r>
        </a:p>
      </dsp:txBody>
      <dsp:txXfrm>
        <a:off x="23988" y="2454396"/>
        <a:ext cx="6750563" cy="443424"/>
      </dsp:txXfrm>
    </dsp:sp>
    <dsp:sp modelId="{4424CEDB-D857-4BA2-9F1E-8D5FDC88FD10}">
      <dsp:nvSpPr>
        <dsp:cNvPr id="0" name=""/>
        <dsp:cNvSpPr/>
      </dsp:nvSpPr>
      <dsp:spPr>
        <a:xfrm>
          <a:off x="0" y="2979408"/>
          <a:ext cx="6798539" cy="4914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be reported as % of total inventory, To be targeted at &lt;5%</a:t>
          </a:r>
        </a:p>
      </dsp:txBody>
      <dsp:txXfrm>
        <a:off x="23988" y="3003396"/>
        <a:ext cx="6750563" cy="443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31D66-ECFA-450A-8903-B80C653CD07C}">
      <dsp:nvSpPr>
        <dsp:cNvPr id="0" name=""/>
        <dsp:cNvSpPr/>
      </dsp:nvSpPr>
      <dsp:spPr>
        <a:xfrm>
          <a:off x="0" y="47516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rgbClr val="FFFFFF"/>
              </a:solidFill>
              <a:latin typeface="Aptos"/>
              <a:ea typeface="+mn-ea"/>
              <a:cs typeface="+mn-cs"/>
            </a:rPr>
            <a:t>Inventory DOH &gt; 90 basis P3M and P6M  retailing</a:t>
          </a:r>
        </a:p>
      </dsp:txBody>
      <dsp:txXfrm>
        <a:off x="69908" y="545068"/>
        <a:ext cx="6527017" cy="1292264"/>
      </dsp:txXfrm>
    </dsp:sp>
    <dsp:sp modelId="{6A4068CB-3208-4DFA-AB5C-AC8C531108AB}">
      <dsp:nvSpPr>
        <dsp:cNvPr id="0" name=""/>
        <dsp:cNvSpPr/>
      </dsp:nvSpPr>
      <dsp:spPr>
        <a:xfrm>
          <a:off x="0" y="201092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SKU shouldn’t be released in P3M</a:t>
          </a:r>
          <a:endParaRPr lang="en-US" sz="36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9908" y="2080828"/>
        <a:ext cx="6527017" cy="1292264"/>
      </dsp:txXfrm>
    </dsp:sp>
    <dsp:sp modelId="{49439451-4946-4F70-A4CA-44FB850AC9F1}">
      <dsp:nvSpPr>
        <dsp:cNvPr id="0" name=""/>
        <dsp:cNvSpPr/>
      </dsp:nvSpPr>
      <dsp:spPr>
        <a:xfrm>
          <a:off x="0" y="354668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Reported as % of total inventory. To be targeted at &lt;5%</a:t>
          </a:r>
          <a:endParaRPr lang="en-US" sz="36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9908" y="3616588"/>
        <a:ext cx="6527017" cy="12922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E71E7-D7D4-467D-93C3-C5BD9414A849}">
      <dsp:nvSpPr>
        <dsp:cNvPr id="0" name=""/>
        <dsp:cNvSpPr/>
      </dsp:nvSpPr>
      <dsp:spPr>
        <a:xfrm>
          <a:off x="0" y="135567"/>
          <a:ext cx="6666833" cy="99508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Basis standard ABC analysis method.</a:t>
          </a:r>
        </a:p>
      </dsp:txBody>
      <dsp:txXfrm>
        <a:off x="48576" y="184143"/>
        <a:ext cx="6569681" cy="897933"/>
      </dsp:txXfrm>
    </dsp:sp>
    <dsp:sp modelId="{ED555DED-937E-4E76-96A4-83B381A94FE3}">
      <dsp:nvSpPr>
        <dsp:cNvPr id="0" name=""/>
        <dsp:cNvSpPr/>
      </dsp:nvSpPr>
      <dsp:spPr>
        <a:xfrm>
          <a:off x="0" y="1182492"/>
          <a:ext cx="6666833" cy="995085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C-Class SKUs are the bottom 10% contributing SKUs by business value salience basis P3M/P6M. (A-class is top 70%, B-class is next  20%)</a:t>
          </a:r>
        </a:p>
      </dsp:txBody>
      <dsp:txXfrm>
        <a:off x="48576" y="1231068"/>
        <a:ext cx="6569681" cy="897933"/>
      </dsp:txXfrm>
    </dsp:sp>
    <dsp:sp modelId="{D8ADD433-295C-4B82-B3ED-70FB59B6FC40}">
      <dsp:nvSpPr>
        <dsp:cNvPr id="0" name=""/>
        <dsp:cNvSpPr/>
      </dsp:nvSpPr>
      <dsp:spPr>
        <a:xfrm>
          <a:off x="0" y="2229417"/>
          <a:ext cx="6666833" cy="995085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% C-Class inventory is the % inventory by value held by distributor in C-Class SKUs.</a:t>
          </a:r>
        </a:p>
      </dsp:txBody>
      <dsp:txXfrm>
        <a:off x="48576" y="2277993"/>
        <a:ext cx="6569681" cy="897933"/>
      </dsp:txXfrm>
    </dsp:sp>
    <dsp:sp modelId="{8A61DF8D-5941-4218-BBE6-97AA95B6791E}">
      <dsp:nvSpPr>
        <dsp:cNvPr id="0" name=""/>
        <dsp:cNvSpPr/>
      </dsp:nvSpPr>
      <dsp:spPr>
        <a:xfrm>
          <a:off x="0" y="3276342"/>
          <a:ext cx="6666833" cy="995085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Reported as % of total inventory. (Acceptable to be 12-15%)</a:t>
          </a:r>
        </a:p>
      </dsp:txBody>
      <dsp:txXfrm>
        <a:off x="48576" y="3324918"/>
        <a:ext cx="6569681" cy="897933"/>
      </dsp:txXfrm>
    </dsp:sp>
    <dsp:sp modelId="{B8626888-6A08-4789-867D-B7C605521C87}">
      <dsp:nvSpPr>
        <dsp:cNvPr id="0" name=""/>
        <dsp:cNvSpPr/>
      </dsp:nvSpPr>
      <dsp:spPr>
        <a:xfrm>
          <a:off x="0" y="4323267"/>
          <a:ext cx="6666833" cy="995085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Can be done at Category level to avoid irregularities.</a:t>
          </a:r>
        </a:p>
      </dsp:txBody>
      <dsp:txXfrm>
        <a:off x="48576" y="4371843"/>
        <a:ext cx="6569681" cy="8979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C3764-583B-4DBA-A60E-DAA797163748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Was it shipped basis forecast/ Open POs? Can it be sold in other channels? Early signs, Engage CTLL for RMA within good shelf life.</a:t>
          </a:r>
        </a:p>
      </dsp:txBody>
      <dsp:txXfrm rot="-5400000">
        <a:off x="3785615" y="147831"/>
        <a:ext cx="6689078" cy="756160"/>
      </dsp:txXfrm>
    </dsp:sp>
    <dsp:sp modelId="{31450FA2-1AFE-4DEB-933D-D411EB26A93F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SKU is discontinued in MR, what to do?</a:t>
          </a:r>
        </a:p>
      </dsp:txBody>
      <dsp:txXfrm>
        <a:off x="51133" y="53310"/>
        <a:ext cx="3683350" cy="945199"/>
      </dsp:txXfrm>
    </dsp:sp>
    <dsp:sp modelId="{54B0EF20-9765-442C-922D-74891115349F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Always sense check for BUP and tentative promo closure timeline. Engage KAM for next promo timelines, or other liquidation plans.</a:t>
          </a:r>
        </a:p>
      </dsp:txBody>
      <dsp:txXfrm rot="-5400000">
        <a:off x="3785615" y="1247670"/>
        <a:ext cx="6689078" cy="756160"/>
      </dsp:txXfrm>
    </dsp:sp>
    <dsp:sp modelId="{66070608-3569-4BBF-A8DF-56A4DD02F201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SKU was shipped because of Promo/TPRs, now discontinued.</a:t>
          </a:r>
        </a:p>
      </dsp:txBody>
      <dsp:txXfrm>
        <a:off x="51133" y="1153149"/>
        <a:ext cx="3683350" cy="945199"/>
      </dsp:txXfrm>
    </dsp:sp>
    <dsp:sp modelId="{B4C04D39-6ABD-4FA4-9A95-002EF87CD93C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Engage with DTLL if shipped post P&amp;G SSD. If shipped purely for specific account/ channel with specific requirements, engage with CTLL for RMA. If shelf life is acceptable in other channels, plan retailing accordingly.</a:t>
          </a:r>
        </a:p>
      </dsp:txBody>
      <dsp:txXfrm rot="-5400000">
        <a:off x="3785615" y="2347509"/>
        <a:ext cx="6689078" cy="756160"/>
      </dsp:txXfrm>
    </dsp:sp>
    <dsp:sp modelId="{B35FB985-AEEA-45BB-BAB7-5A4472E25B2D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Low-shelf life stock received, cant be sold.</a:t>
          </a:r>
        </a:p>
      </dsp:txBody>
      <dsp:txXfrm>
        <a:off x="51133" y="2252988"/>
        <a:ext cx="3683350" cy="945199"/>
      </dsp:txXfrm>
    </dsp:sp>
    <dsp:sp modelId="{F412C2E1-4FEA-4DFA-B2A2-96B0DBC6499F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Plan FB shipment basis channel x coverage x hitrates for 40%, and dynamically thereafter. Good to have Sales team buy-in for build-up.</a:t>
          </a:r>
        </a:p>
      </dsp:txBody>
      <dsp:txXfrm rot="-5400000">
        <a:off x="3785615" y="3447347"/>
        <a:ext cx="6689078" cy="756160"/>
      </dsp:txXfrm>
    </dsp:sp>
    <dsp:sp modelId="{502F101F-6825-4D30-8BE1-A1BF7828A5CF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Built up for FB, now stuck!</a:t>
          </a:r>
        </a:p>
      </dsp:txBody>
      <dsp:txXfrm>
        <a:off x="51133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E764-E20E-BAD1-8016-A4E0AD580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061DD-2EB1-0F06-D312-012351973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B356F-4DC7-5B35-D30F-C803F862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8F26-645C-E77A-409A-6372388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F272-2AE7-CF1C-CF0D-37CF04D3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48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E513-30A3-8DD3-9A01-0948415C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7EAC8-CD49-E544-8430-293141773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B9567-041C-BD53-4BE6-FA1303C8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A411E-80C4-C2C0-15AE-256D856D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CDB0D-96D2-E2FB-72C0-CE6327C4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81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6076-BBF8-5E3F-65C9-EE8DC656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2A826-3AED-F412-B8FC-8007C13F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F50B-0344-4174-9A36-8FF4B31C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5EBD4-8CA8-4050-0CA6-152C6016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D59FD-EEBA-C207-CE04-D861F942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96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4644-F05A-1247-98FF-33043F72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81F6B-217F-3E9C-19B4-194FD8649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9124C-D620-6292-2C8A-A8BB34F91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2E60D-FC27-0E7E-8127-DA07D7DB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D351F-4685-FAAC-56BF-195B5CCE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A6494-CB25-5F8E-F0B6-CBC956F9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2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E719-0A22-F895-A47A-8A989F3D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E92C7-8A06-377B-E34C-FA151CE15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DD213-3A75-BE46-BDB7-0D9C43642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C572E-F8F7-0EB9-7496-657F9E91E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C5EE4-DB0D-9818-43AA-7A68EA3ED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6DBEE-19E3-B0AF-01C8-1ED958F8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E8950-159C-AE34-9D33-E84EEBE9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25C6B-ED47-DB6D-2B4F-A3A2E689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5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8DB0-91E2-8C9F-8470-AFD441AE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48ACF-CC6E-23CC-6E3E-23A58301B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1693A-ECB8-6C32-63FE-7ECCADBC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8D6C4-8EF9-C7B5-F566-7E52CA59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7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A36B0-D579-DE53-4047-8F92721D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ADCC7-E01A-C5BF-B9F6-D82DF375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37A24-EF95-3C28-8EDF-8C9F3386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1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F591-70E0-A808-5543-CFA36E66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51CA-49C1-93A5-4EFD-FE6F11037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B6BE-B965-AD62-523C-E14DDE90A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08EDC-6BFD-CB86-62C5-CD706879D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0425E-20FF-84BB-88AC-907E7E05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E8AE1-63ED-A676-8824-20424B6F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44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27A2-5DF3-B195-7E8F-E7D7354AB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B7A6E-83C0-4E97-CF85-410BFBACC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327E7-3FC2-A528-8097-562B29A6A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86B45-252D-EBCF-1391-57BC867C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436F0-B1CD-CFC6-26D3-8AF8AFCA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7571E-E991-E51B-FA1C-18C7B5EE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44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2A82-50C0-46CB-764E-BDA14DFA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3D796-ED8A-117F-83D2-2BA4AC53F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B80FC-23A0-48C0-38F9-A7E41627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4CD9-BDA6-7DEA-D3F1-79B1774C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F2502-64A6-A604-F51B-572FC191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8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1A825-984B-0F29-21F3-770F8EA69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56492-5248-1D49-E804-DD2CE9B17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48990-AF1A-708F-BB94-51D81622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03D84-462E-292B-48B3-7D59DE60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FA463-A9AE-602C-B646-5B12DE8A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2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F92BAC-DD1D-406F-BC9B-14059834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DAEC4-D997-499C-4DD5-87DED05DB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C7847-4E27-4CCD-49BA-827E0DAF3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08537-0A3C-4394-BFC7-4E2D6CC1A96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6693-2A33-E8C8-A342-E9A1CE3B3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8BF61-050E-73ED-56AE-556ED05A9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4DEBA-0365-45CB-8D6B-5A485EC7B9D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5B199A-1F8D-B425-2898-F417EF3B734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336338" y="190500"/>
            <a:ext cx="693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 Use</a:t>
            </a:r>
          </a:p>
        </p:txBody>
      </p:sp>
    </p:spTree>
    <p:extLst>
      <p:ext uri="{BB962C8B-B14F-4D97-AF65-F5344CB8AC3E}">
        <p14:creationId xmlns:p14="http://schemas.microsoft.com/office/powerpoint/2010/main" val="659075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emf"/><Relationship Id="rId7" Type="http://schemas.openxmlformats.org/officeDocument/2006/relationships/diagramLayout" Target="../diagrams/layout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4.svg"/><Relationship Id="rId10" Type="http://schemas.microsoft.com/office/2007/relationships/diagramDrawing" Target="../diagrams/drawing1.xml"/><Relationship Id="rId4" Type="http://schemas.openxmlformats.org/officeDocument/2006/relationships/image" Target="../media/image3.sv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72B44-2CDE-BAD3-10BC-2EA7F3889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 Inventory Principles</a:t>
            </a: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70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6">
            <a:extLst>
              <a:ext uri="{FF2B5EF4-FFF2-40B4-BE49-F238E27FC236}">
                <a16:creationId xmlns:a16="http://schemas.microsoft.com/office/drawing/2014/main" id="{4043FC20-C191-110F-5867-FFD0A7FB4E2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600">
                <a:solidFill>
                  <a:prstClr val="white"/>
                </a:solidFill>
                <a:latin typeface="Calibri" panose="020F0502020204030204"/>
              </a:rPr>
              <a:t>                             Inventory Norm Principles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5512D3D-C88E-643A-464F-642DF503A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rgbClr val="A5C249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326606" y="1297289"/>
            <a:ext cx="835853" cy="7620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62FD12-AA3A-B7AB-E048-574AEB048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rgbClr val="A5C249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6424700" y="1296693"/>
            <a:ext cx="835853" cy="7620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F3C935-7FB3-2347-3BF6-75EB8421C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204" y="2106867"/>
            <a:ext cx="9074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P&amp;G DC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5EAB1-B5AE-1CA1-51C0-324CA34F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827" y="2134985"/>
            <a:ext cx="148790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00"/>
                </a:solidFill>
              </a:rPr>
              <a:t>Distributor Hub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7DFB4-9FBE-F82F-D137-B28AA3BEA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588" y="2130312"/>
            <a:ext cx="17283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Distributor Branch 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D01A0ED8-8740-F0B4-40FF-E5BF866F9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7555869" y="1434847"/>
            <a:ext cx="657448" cy="484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Graphic 18" descr="Store with solid fill">
            <a:extLst>
              <a:ext uri="{FF2B5EF4-FFF2-40B4-BE49-F238E27FC236}">
                <a16:creationId xmlns:a16="http://schemas.microsoft.com/office/drawing/2014/main" id="{BEEC1FEC-7B5A-1341-F6FB-E6C196067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4640" y="1196948"/>
            <a:ext cx="835853" cy="8358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6C82A77-201B-9B9E-11E2-EEC24CE30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746" y="2102322"/>
            <a:ext cx="8274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Retailer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55AA9BD-0C8D-463B-80DA-43A9FEA9653D}"/>
              </a:ext>
            </a:extLst>
          </p:cNvPr>
          <p:cNvSpPr/>
          <p:nvPr/>
        </p:nvSpPr>
        <p:spPr>
          <a:xfrm>
            <a:off x="5391780" y="1619954"/>
            <a:ext cx="835853" cy="189677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Warehouse with solid fill">
            <a:extLst>
              <a:ext uri="{FF2B5EF4-FFF2-40B4-BE49-F238E27FC236}">
                <a16:creationId xmlns:a16="http://schemas.microsoft.com/office/drawing/2014/main" id="{FB141A5E-4AF6-68C7-215B-8A99644CD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5652" y="986061"/>
            <a:ext cx="1147270" cy="11472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E8280C-232B-5724-A3A7-72DE7B439836}"/>
              </a:ext>
            </a:extLst>
          </p:cNvPr>
          <p:cNvSpPr txBox="1"/>
          <p:nvPr/>
        </p:nvSpPr>
        <p:spPr>
          <a:xfrm>
            <a:off x="3061331" y="2820417"/>
            <a:ext cx="672954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Safety stock is calculated basis 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BCCC8EE-D226-DF00-92E1-E17238C95597}"/>
              </a:ext>
            </a:extLst>
          </p:cNvPr>
          <p:cNvSpPr/>
          <p:nvPr/>
        </p:nvSpPr>
        <p:spPr>
          <a:xfrm>
            <a:off x="2228034" y="1619953"/>
            <a:ext cx="1646080" cy="20896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6B1EE17-6CF3-DA82-EB8C-285A00363B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793544"/>
              </p:ext>
            </p:extLst>
          </p:nvPr>
        </p:nvGraphicFramePr>
        <p:xfrm>
          <a:off x="519897" y="3407496"/>
          <a:ext cx="11489802" cy="3299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61432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82F0A-01CB-21FB-5CA2-74D75DB8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6357E-3163-3158-D671-FE1C99B4E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6554A5-940A-0FAB-22F6-B2123553A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8ABCA-88B9-2CC6-593F-8EB98ABB6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A21A6F-6225-50D4-AF8A-94C66371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C77D31-75B7-986F-DFB7-965E2FCE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A31D4-698F-934F-9AEE-C691CC59F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NPI / UPI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&amp;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C-Class Inventory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F4CF0F-70D0-F5FE-D052-CD47E0548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09D55-4F49-4BF9-4993-5F483D479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Concepts, Calculations, Reporting, Analysis and Key Takeaways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085BCE-F14D-E915-C614-6A83426A4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24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7713F-ECA9-A37B-7D57-2ADAC29AB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NPI : Non-Performing Inventory</a:t>
            </a:r>
            <a:endParaRPr lang="en-IN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5137D9-20F2-0937-1614-34873238BA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56" r="15560" b="1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E21E81-BAC6-0E48-9FC3-EFA151F42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799876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552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7F535-F170-5B0D-DC4D-5A823925F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6FB87-E86C-8884-C40A-6EDCFC978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UPI : Under Performing Inventory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A9EF12C-A7FA-5134-667E-13D839ACA6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26486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8800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78B85-8B71-606C-6732-FC3C5AE5A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C-Class Inventory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AAAC6C-36E5-C0D9-E279-8BD05F237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9194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31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5155B7-DC26-546D-5447-325C43DBA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70204"/>
              </p:ext>
            </p:extLst>
          </p:nvPr>
        </p:nvGraphicFramePr>
        <p:xfrm>
          <a:off x="698090" y="1339099"/>
          <a:ext cx="1079582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170">
                  <a:extLst>
                    <a:ext uri="{9D8B030D-6E8A-4147-A177-3AD203B41FA5}">
                      <a16:colId xmlns:a16="http://schemas.microsoft.com/office/drawing/2014/main" val="2894189866"/>
                    </a:ext>
                  </a:extLst>
                </a:gridCol>
                <a:gridCol w="2836740">
                  <a:extLst>
                    <a:ext uri="{9D8B030D-6E8A-4147-A177-3AD203B41FA5}">
                      <a16:colId xmlns:a16="http://schemas.microsoft.com/office/drawing/2014/main" val="3335869147"/>
                    </a:ext>
                  </a:extLst>
                </a:gridCol>
                <a:gridCol w="2873348">
                  <a:extLst>
                    <a:ext uri="{9D8B030D-6E8A-4147-A177-3AD203B41FA5}">
                      <a16:colId xmlns:a16="http://schemas.microsoft.com/office/drawing/2014/main" val="2432000458"/>
                    </a:ext>
                  </a:extLst>
                </a:gridCol>
                <a:gridCol w="2524562">
                  <a:extLst>
                    <a:ext uri="{9D8B030D-6E8A-4147-A177-3AD203B41FA5}">
                      <a16:colId xmlns:a16="http://schemas.microsoft.com/office/drawing/2014/main" val="327915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C-Class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69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DOH (basis P3M/P6M)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&gt;90, &lt;180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&gt;180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direct correlation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87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Launch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launched in P3M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launched in P3M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direct correlation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3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Shipment history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correlation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shipped in P3M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direct correlation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441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Demand forecast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Correlation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P&amp;G forecast in N6M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direct correlation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00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Salience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correlation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correlation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Bottom 10% Biz contributing SKUs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99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Targeted Inventory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&lt;5% of total Inv by value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&lt;5% of total Inv by value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Ideally 12-15% by value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312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None;</a:t>
                      </a:r>
                    </a:p>
                    <a:p>
                      <a:pPr algn="ctr"/>
                      <a:r>
                        <a:rPr lang="en-US" dirty="0"/>
                        <a:t>High, if DOH is high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777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994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C4194-9D75-0665-AA06-DF390CCB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General Guidelines</a:t>
            </a:r>
            <a:endParaRPr lang="en-IN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1F14-7DB1-EA6F-0D07-0CAF76AE7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Should be reported and discussed in-depth during JBP and DLT reviews</a:t>
            </a:r>
          </a:p>
          <a:p>
            <a:r>
              <a:rPr lang="en-US" sz="2200" dirty="0"/>
              <a:t>Ordering check should be put-in, on the list of these SKUs</a:t>
            </a:r>
          </a:p>
          <a:p>
            <a:r>
              <a:rPr lang="en-US" sz="2200" dirty="0"/>
              <a:t>Inventory build-ups to be avoided in B&amp;C class SKUs</a:t>
            </a:r>
          </a:p>
          <a:p>
            <a:r>
              <a:rPr lang="en-US" sz="2200" dirty="0"/>
              <a:t>Inventory on these SKUs should be tracked and highlighted to Sales planning teams for liquidation</a:t>
            </a:r>
          </a:p>
          <a:p>
            <a:r>
              <a:rPr lang="en-US" sz="2200" dirty="0"/>
              <a:t>Priority for help:	</a:t>
            </a:r>
          </a:p>
          <a:p>
            <a:pPr lvl="1"/>
            <a:r>
              <a:rPr lang="en-US" sz="2200" dirty="0"/>
              <a:t>Liquidate internally – Via focused selling</a:t>
            </a:r>
          </a:p>
          <a:p>
            <a:pPr lvl="1"/>
            <a:r>
              <a:rPr lang="en-US" sz="2200" dirty="0"/>
              <a:t>If stuck due to external issues like rates/promos – engage with KAM/DTLL &amp; category</a:t>
            </a:r>
          </a:p>
          <a:p>
            <a:pPr lvl="1"/>
            <a:r>
              <a:rPr lang="en-US" sz="2200" dirty="0"/>
              <a:t>If stuck due to issues like damages/expiries – engage with DTLL for DSDS/Scrapping for all valid reasons</a:t>
            </a:r>
          </a:p>
          <a:p>
            <a:pPr lvl="1"/>
            <a:endParaRPr lang="en-US" sz="2200" dirty="0"/>
          </a:p>
          <a:p>
            <a:pPr lvl="1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8408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C1E67-EE13-7C63-0392-3F3867A7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0A5146-D8E9-1119-9D29-263FC68EE0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740" r="9085" b="6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D6970-3959-6D46-06CF-9C3A8AEF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FAQs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8A0004-72CF-1FFB-F2A7-B99BD1501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4455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5250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4140-9FC1-A158-BF55-D5C84CE62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Thank You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737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BE86-0D4C-78D4-1F4A-983D265C0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Calculate Safety Stock in Supply Chain Management | Dr. Navneet  Kumar posted on the topic | LinkedIn">
            <a:extLst>
              <a:ext uri="{FF2B5EF4-FFF2-40B4-BE49-F238E27FC236}">
                <a16:creationId xmlns:a16="http://schemas.microsoft.com/office/drawing/2014/main" id="{9E760EB4-A92F-C91C-1BD6-4C53A3500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778" y="700865"/>
            <a:ext cx="5456269" cy="545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257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3A9E5E-7BBF-1C66-D98E-249F3A944129}"/>
              </a:ext>
            </a:extLst>
          </p:cNvPr>
          <p:cNvSpPr/>
          <p:nvPr/>
        </p:nvSpPr>
        <p:spPr>
          <a:xfrm>
            <a:off x="835286" y="3727676"/>
            <a:ext cx="10282483" cy="247775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82F0C8-D650-6BA9-D65C-843D2212B03B}"/>
              </a:ext>
            </a:extLst>
          </p:cNvPr>
          <p:cNvSpPr/>
          <p:nvPr/>
        </p:nvSpPr>
        <p:spPr>
          <a:xfrm>
            <a:off x="1107861" y="4138794"/>
            <a:ext cx="2864276" cy="18894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DOH&gt;180 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 N6M demand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 shipment from P&amp;G in P3M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2.8 $MM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8BF541-1237-6386-1419-BF5693532F55}"/>
              </a:ext>
            </a:extLst>
          </p:cNvPr>
          <p:cNvSpPr/>
          <p:nvPr/>
        </p:nvSpPr>
        <p:spPr>
          <a:xfrm>
            <a:off x="4744679" y="4150339"/>
            <a:ext cx="2702640" cy="187789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DOH&gt;90 basis P3M/P6M retailing</a:t>
            </a:r>
          </a:p>
          <a:p>
            <a:pPr algn="ctr"/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4.3 $MM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CFE932-CFF4-8396-476B-86A87597C2E2}"/>
              </a:ext>
            </a:extLst>
          </p:cNvPr>
          <p:cNvSpPr/>
          <p:nvPr/>
        </p:nvSpPr>
        <p:spPr>
          <a:xfrm>
            <a:off x="8139042" y="4184976"/>
            <a:ext cx="2668003" cy="184325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Bottom 10% contributing SKUs by business</a:t>
            </a:r>
          </a:p>
          <a:p>
            <a:pPr algn="ctr"/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11.6 $MM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C5DF6-2357-5139-DC87-761A6B886600}"/>
              </a:ext>
            </a:extLst>
          </p:cNvPr>
          <p:cNvSpPr txBox="1"/>
          <p:nvPr/>
        </p:nvSpPr>
        <p:spPr>
          <a:xfrm>
            <a:off x="2276462" y="3730688"/>
            <a:ext cx="15405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latin typeface="Calibri"/>
                <a:ea typeface="Calibri"/>
                <a:cs typeface="Calibri"/>
              </a:rPr>
              <a:t>NPI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034AEA-871C-4B5D-3B6E-E8765323DF40}"/>
              </a:ext>
            </a:extLst>
          </p:cNvPr>
          <p:cNvSpPr txBox="1"/>
          <p:nvPr/>
        </p:nvSpPr>
        <p:spPr>
          <a:xfrm>
            <a:off x="5786279" y="3730687"/>
            <a:ext cx="15405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CD436-BDD9-AD3F-08E4-2197A96CC7C8}"/>
              </a:ext>
            </a:extLst>
          </p:cNvPr>
          <p:cNvSpPr txBox="1"/>
          <p:nvPr/>
        </p:nvSpPr>
        <p:spPr>
          <a:xfrm>
            <a:off x="9053643" y="3730687"/>
            <a:ext cx="15405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/>
                <a:ea typeface="Calibri"/>
                <a:cs typeface="Calibri"/>
              </a:rPr>
              <a:t>C Class</a:t>
            </a:r>
          </a:p>
        </p:txBody>
      </p:sp>
    </p:spTree>
    <p:extLst>
      <p:ext uri="{BB962C8B-B14F-4D97-AF65-F5344CB8AC3E}">
        <p14:creationId xmlns:p14="http://schemas.microsoft.com/office/powerpoint/2010/main" val="343756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7825</TotalTime>
  <Words>701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 Inventory Principles</vt:lpstr>
      <vt:lpstr>PowerPoint Presentation</vt:lpstr>
      <vt:lpstr>NPI / UPI &amp; C-Class Inventory</vt:lpstr>
      <vt:lpstr>NPI : Non-Performing Inventory</vt:lpstr>
      <vt:lpstr>UPI : Under Performing Inventory</vt:lpstr>
      <vt:lpstr>C-Class Inventory</vt:lpstr>
      <vt:lpstr>PowerPoint Presentation</vt:lpstr>
      <vt:lpstr>General Guidelines</vt:lpstr>
      <vt:lpstr>FAQs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Goel, Yash</dc:creator>
  <cp:lastModifiedBy>Gupta, Sanjul</cp:lastModifiedBy>
  <cp:revision>201</cp:revision>
  <dcterms:created xsi:type="dcterms:W3CDTF">2025-04-15T07:26:22Z</dcterms:created>
  <dcterms:modified xsi:type="dcterms:W3CDTF">2026-08-26T11:11:13Z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18e53f-798e-43aa-978d-c3fda1f3a682_Enabled">
    <vt:lpwstr>true</vt:lpwstr>
  </property>
  <property fmtid="{D5CDD505-2E9C-101B-9397-08002B2CF9AE}" pid="3" name="MSIP_Label_a518e53f-798e-43aa-978d-c3fda1f3a682_SetDate">
    <vt:lpwstr>2025-05-08T07:33:19Z</vt:lpwstr>
  </property>
  <property fmtid="{D5CDD505-2E9C-101B-9397-08002B2CF9AE}" pid="4" name="MSIP_Label_a518e53f-798e-43aa-978d-c3fda1f3a682_Method">
    <vt:lpwstr>Privileged</vt:lpwstr>
  </property>
  <property fmtid="{D5CDD505-2E9C-101B-9397-08002B2CF9AE}" pid="5" name="MSIP_Label_a518e53f-798e-43aa-978d-c3fda1f3a682_Name">
    <vt:lpwstr>PG - Internal Use</vt:lpwstr>
  </property>
  <property fmtid="{D5CDD505-2E9C-101B-9397-08002B2CF9AE}" pid="6" name="MSIP_Label_a518e53f-798e-43aa-978d-c3fda1f3a682_SiteId">
    <vt:lpwstr>3596192b-fdf5-4e2c-a6fa-acb706c963d8</vt:lpwstr>
  </property>
  <property fmtid="{D5CDD505-2E9C-101B-9397-08002B2CF9AE}" pid="7" name="MSIP_Label_a518e53f-798e-43aa-978d-c3fda1f3a682_ActionId">
    <vt:lpwstr>5646cc43-384d-44cb-a419-595b39e9081f</vt:lpwstr>
  </property>
  <property fmtid="{D5CDD505-2E9C-101B-9397-08002B2CF9AE}" pid="8" name="MSIP_Label_a518e53f-798e-43aa-978d-c3fda1f3a682_ContentBits">
    <vt:lpwstr>1</vt:lpwstr>
  </property>
  <property fmtid="{D5CDD505-2E9C-101B-9397-08002B2CF9AE}" pid="9" name="MSIP_Label_a518e53f-798e-43aa-978d-c3fda1f3a682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Business Use</vt:lpwstr>
  </property>
</Properties>
</file>